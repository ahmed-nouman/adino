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a642478b-7d8c-2e1f-cbf3-32bf684eda4c}">
          <p14:sldIdLst>
            <p14:sldId id="256"/>
            <p14:sldId id="257"/>
          </p14:sldIdLst>
        </p14:section>
        <p14:section name="Components" id="{4482ecbe-78bd-ed7a-9bb1-6cb12804a720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Runtime and outputs" id="{2fe62d44-3ff9-f7b6-daaa-103d70383351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cube stack on the right is the motif used through the deck: red, green, black, white, bottom to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flow: frames are gated by motion; once the scene settles YOLO and the geometric reasoning produce a reading bottom to top. It is compared with the goal. No anomaly: the code planner answers instantly. Anomaly: the VLM reads the raw image, places the cubes YOLO missed, and plans the moves, which code verifies.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is no longer hard-coded. Every settle JSON records the goal and its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Parameters: SETTLE_SECONDS 0.7, CONFIRM_FRAMES 3, CONFIRM_MAX_FRAMES 15, HEARTBEAT_SECONDS 5, MOTION_AREA_FRAC 1 %.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2-5 are the geometric reasoning. Image 2 of each settle shows step 1 only, image 3 shows the result of step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Trade-off: if YOLO misses the top cube of a stack that is otherwise correct, it looks like normal progress and the VLM is not called; press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model qwen3-vl:8b (also tested gemma4:31b as an option). Code always has the last word on the order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 S1-2 = stack 1 (numbered left to right), 2nd cube from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result.json sections. All stacks are listed bottom to top so they can be compared directly with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VLM thread hits an error on one settle, that settle still gets image 4 and JSON with a note; the thread carries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parameters live at the top of detect_stack_live_vlm.py.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3DF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B8C"/>
                </a:solidFill>
              </a:rPr>
              <a:t>Cube stacking assistant  |  system architecture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Cube stacking assistant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F"/>
                </a:solidFill>
              </a:rPr>
              <a:t>System architecture: motion-gated YOLO + geometric reasoning, a goal set from an image, and a VLM (Qwen3-VL via Ollama) called only on anomalies</a:t>
            </a:r>
            <a:endParaRPr lang="en-US" sz="1800" dirty="0"/>
          </a:p>
        </p:txBody>
      </p:sp>
      <p:sp>
        <p:nvSpPr>
          <p:cNvPr id="4" name="cube_red_1"/>
          <p:cNvSpPr/>
          <p:nvPr/>
        </p:nvSpPr>
        <p:spPr>
          <a:xfrm>
            <a:off x="9692640" y="4434840"/>
            <a:ext cx="685800" cy="685800"/>
          </a:xfrm>
          <a:prstGeom prst="rect">
            <a:avLst/>
          </a:prstGeom>
          <a:solidFill>
            <a:srgbClr val="D33A32"/>
          </a:solidFill>
          <a:ln w="9525">
            <a:solidFill>
              <a:srgbClr val="8A97A8"/>
            </a:solidFill>
            <a:prstDash val="solid"/>
          </a:ln>
        </p:spPr>
      </p:sp>
      <p:sp>
        <p:nvSpPr>
          <p:cNvPr id="5" name="cube_green_2"/>
          <p:cNvSpPr/>
          <p:nvPr/>
        </p:nvSpPr>
        <p:spPr>
          <a:xfrm>
            <a:off x="9692640" y="3749040"/>
            <a:ext cx="685800" cy="685800"/>
          </a:xfrm>
          <a:prstGeom prst="rect">
            <a:avLst/>
          </a:prstGeom>
          <a:solidFill>
            <a:srgbClr val="7DBB45"/>
          </a:solidFill>
          <a:ln w="9525">
            <a:solidFill>
              <a:srgbClr val="8A97A8"/>
            </a:solidFill>
            <a:prstDash val="solid"/>
          </a:ln>
        </p:spPr>
      </p:sp>
      <p:sp>
        <p:nvSpPr>
          <p:cNvPr id="6" name="cube_black_3"/>
          <p:cNvSpPr/>
          <p:nvPr/>
        </p:nvSpPr>
        <p:spPr>
          <a:xfrm>
            <a:off x="9692640" y="3063240"/>
            <a:ext cx="685800" cy="685800"/>
          </a:xfrm>
          <a:prstGeom prst="rect">
            <a:avLst/>
          </a:prstGeom>
          <a:solidFill>
            <a:srgbClr val="1E1E1E"/>
          </a:solidFill>
          <a:ln w="9525">
            <a:solidFill>
              <a:srgbClr val="8A97A8"/>
            </a:solidFill>
            <a:prstDash val="solid"/>
          </a:ln>
        </p:spPr>
      </p:sp>
      <p:sp>
        <p:nvSpPr>
          <p:cNvPr id="7" name="cube_white_4"/>
          <p:cNvSpPr/>
          <p:nvPr/>
        </p:nvSpPr>
        <p:spPr>
          <a:xfrm>
            <a:off x="9692640" y="2377440"/>
            <a:ext cx="685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7A8"/>
            </a:solidFill>
            <a:prstDash val="solid"/>
          </a:ln>
        </p:spPr>
      </p:sp>
      <p:sp>
        <p:nvSpPr>
          <p:cNvPr id="8" name="label_5"/>
          <p:cNvSpPr txBox="1"/>
          <p:nvPr/>
        </p:nvSpPr>
        <p:spPr>
          <a:xfrm>
            <a:off x="8961120" y="5257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3DF"/>
                </a:solidFill>
              </a:rPr>
              <a:t>goal, bottom to top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End-to-end architecture</a:t>
            </a:r>
            <a:endParaRPr lang="en-US" sz="3200" dirty="0"/>
          </a:p>
        </p:txBody>
      </p:sp>
      <p:sp>
        <p:nvSpPr>
          <p:cNvPr id="3" name="box_6"/>
          <p:cNvSpPr/>
          <p:nvPr/>
        </p:nvSpPr>
        <p:spPr>
          <a:xfrm>
            <a:off x="457200" y="1188720"/>
            <a:ext cx="249631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OAK-D Pro camera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RGB 1280×720 @ 30 fps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white balance locked</a:t>
            </a:r>
            <a:endParaRPr lang="en-US" sz="1400" dirty="0"/>
          </a:p>
        </p:txBody>
      </p:sp>
      <p:sp>
        <p:nvSpPr>
          <p:cNvPr id="4" name="box_7"/>
          <p:cNvSpPr/>
          <p:nvPr/>
        </p:nvSpPr>
        <p:spPr>
          <a:xfrm>
            <a:off x="3383280" y="1188720"/>
            <a:ext cx="2496312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Motion gate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IDLE · MOVING · SETTLING · CONFIRMING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YOLO only after the scene settles</a:t>
            </a:r>
            <a:endParaRPr lang="en-US" sz="1400" dirty="0"/>
          </a:p>
        </p:txBody>
      </p:sp>
      <p:sp>
        <p:nvSpPr>
          <p:cNvPr id="5" name="box_8"/>
          <p:cNvSpPr/>
          <p:nvPr/>
        </p:nvSpPr>
        <p:spPr>
          <a:xfrm>
            <a:off x="6309360" y="1188720"/>
            <a:ext cx="2496312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YOLO detector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cube colour class + box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best.pt, conf ≥ 0.25</a:t>
            </a:r>
            <a:endParaRPr lang="en-US" sz="1400" dirty="0"/>
          </a:p>
        </p:txBody>
      </p:sp>
      <p:sp>
        <p:nvSpPr>
          <p:cNvPr id="6" name="box_9"/>
          <p:cNvSpPr/>
          <p:nvPr/>
        </p:nvSpPr>
        <p:spPr>
          <a:xfrm>
            <a:off x="9235440" y="1188720"/>
            <a:ext cx="2496312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Geometric reasoning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colour check · side-face merge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stack grouping · hidden-cube probe</a:t>
            </a:r>
            <a:endParaRPr lang="en-US" sz="1400" dirty="0"/>
          </a:p>
        </p:txBody>
      </p:sp>
      <p:sp>
        <p:nvSpPr>
          <p:cNvPr id="7" name="arrow_10"/>
          <p:cNvSpPr/>
          <p:nvPr/>
        </p:nvSpPr>
        <p:spPr>
          <a:xfrm>
            <a:off x="2953512" y="1714500"/>
            <a:ext cx="429768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8" name="arrow_11"/>
          <p:cNvSpPr/>
          <p:nvPr/>
        </p:nvSpPr>
        <p:spPr>
          <a:xfrm>
            <a:off x="5879592" y="1714500"/>
            <a:ext cx="429768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9" name="arrow_12"/>
          <p:cNvSpPr/>
          <p:nvPr/>
        </p:nvSpPr>
        <p:spPr>
          <a:xfrm>
            <a:off x="8805672" y="1714500"/>
            <a:ext cx="429768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10" name="arrow_13"/>
          <p:cNvSpPr/>
          <p:nvPr/>
        </p:nvSpPr>
        <p:spPr>
          <a:xfrm>
            <a:off x="10483596" y="2240280"/>
            <a:ext cx="0" cy="246888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</a:ln>
        </p:spPr>
      </p:sp>
      <p:sp>
        <p:nvSpPr>
          <p:cNvPr id="11" name="arrow_14"/>
          <p:cNvSpPr/>
          <p:nvPr/>
        </p:nvSpPr>
        <p:spPr>
          <a:xfrm flipH="1">
            <a:off x="4631436" y="2487168"/>
            <a:ext cx="5852160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</a:ln>
        </p:spPr>
      </p:sp>
      <p:sp>
        <p:nvSpPr>
          <p:cNvPr id="12" name="arrow_15"/>
          <p:cNvSpPr/>
          <p:nvPr/>
        </p:nvSpPr>
        <p:spPr>
          <a:xfrm>
            <a:off x="4631436" y="2487168"/>
            <a:ext cx="0" cy="256032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13" name="label_16"/>
          <p:cNvSpPr txBox="1"/>
          <p:nvPr/>
        </p:nvSpPr>
        <p:spPr>
          <a:xfrm>
            <a:off x="5669280" y="2240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reading: stacks bottom → top + table cubes</a:t>
            </a:r>
            <a:endParaRPr lang="en-US" sz="1000" dirty="0"/>
          </a:p>
        </p:txBody>
      </p:sp>
      <p:sp>
        <p:nvSpPr>
          <p:cNvPr id="14" name="box_17"/>
          <p:cNvSpPr/>
          <p:nvPr/>
        </p:nvSpPr>
        <p:spPr>
          <a:xfrm>
            <a:off x="457200" y="2743200"/>
            <a:ext cx="2496312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Goal setup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live capture · --goal-image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--goal r,g,b,w</a:t>
            </a:r>
            <a:endParaRPr lang="en-US" sz="1400" dirty="0"/>
          </a:p>
        </p:txBody>
      </p:sp>
      <p:sp>
        <p:nvSpPr>
          <p:cNvPr id="15" name="box_18"/>
          <p:cNvSpPr/>
          <p:nvPr/>
        </p:nvSpPr>
        <p:spPr>
          <a:xfrm>
            <a:off x="3383280" y="2743200"/>
            <a:ext cx="2496312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Order check vs goal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complete · in progress · wrong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+ exact anomaly</a:t>
            </a:r>
            <a:endParaRPr lang="en-US" sz="1400" dirty="0"/>
          </a:p>
        </p:txBody>
      </p:sp>
      <p:sp>
        <p:nvSpPr>
          <p:cNvPr id="16" name="box_19"/>
          <p:cNvSpPr/>
          <p:nvPr/>
        </p:nvSpPr>
        <p:spPr>
          <a:xfrm>
            <a:off x="6309360" y="2743200"/>
            <a:ext cx="2496312" cy="1051560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Anomaly?</a:t>
            </a:r>
            <a:endParaRPr lang="en-US" sz="1500" dirty="0"/>
          </a:p>
        </p:txBody>
      </p:sp>
      <p:sp>
        <p:nvSpPr>
          <p:cNvPr id="17" name="box_20"/>
          <p:cNvSpPr/>
          <p:nvPr/>
        </p:nvSpPr>
        <p:spPr>
          <a:xfrm>
            <a:off x="9235440" y="2743200"/>
            <a:ext cx="2496312" cy="105156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Code planner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instant step-by-step moves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 VLM call</a:t>
            </a:r>
            <a:endParaRPr lang="en-US" sz="1400" dirty="0"/>
          </a:p>
        </p:txBody>
      </p:sp>
      <p:sp>
        <p:nvSpPr>
          <p:cNvPr id="18" name="arrow_21"/>
          <p:cNvSpPr/>
          <p:nvPr/>
        </p:nvSpPr>
        <p:spPr>
          <a:xfrm>
            <a:off x="2953512" y="3268980"/>
            <a:ext cx="429768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19" name="arrow_22"/>
          <p:cNvSpPr/>
          <p:nvPr/>
        </p:nvSpPr>
        <p:spPr>
          <a:xfrm>
            <a:off x="5879592" y="3268980"/>
            <a:ext cx="429768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20" name="arrow_23"/>
          <p:cNvSpPr/>
          <p:nvPr/>
        </p:nvSpPr>
        <p:spPr>
          <a:xfrm>
            <a:off x="8805672" y="3268980"/>
            <a:ext cx="429768" cy="0"/>
          </a:xfrm>
          <a:prstGeom prst="line">
            <a:avLst/>
          </a:prstGeom>
          <a:noFill/>
          <a:ln w="22225">
            <a:solidFill>
              <a:srgbClr val="3E8E5E"/>
            </a:solidFill>
            <a:prstDash val="solid"/>
            <a:tailEnd type="triangle"/>
          </a:ln>
        </p:spPr>
      </p:sp>
      <p:sp>
        <p:nvSpPr>
          <p:cNvPr id="21" name="label_24"/>
          <p:cNvSpPr txBox="1"/>
          <p:nvPr/>
        </p:nvSpPr>
        <p:spPr>
          <a:xfrm>
            <a:off x="8714232" y="29763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8E5E"/>
                </a:solidFill>
              </a:rPr>
              <a:t>no</a:t>
            </a:r>
            <a:endParaRPr lang="en-US" sz="1100" dirty="0"/>
          </a:p>
        </p:txBody>
      </p:sp>
      <p:sp>
        <p:nvSpPr>
          <p:cNvPr id="22" name="arrow_25"/>
          <p:cNvSpPr/>
          <p:nvPr/>
        </p:nvSpPr>
        <p:spPr>
          <a:xfrm>
            <a:off x="7557516" y="3794760"/>
            <a:ext cx="0" cy="411480"/>
          </a:xfrm>
          <a:prstGeom prst="line">
            <a:avLst/>
          </a:prstGeom>
          <a:noFill/>
          <a:ln w="22225">
            <a:solidFill>
              <a:srgbClr val="C0453F"/>
            </a:solidFill>
            <a:prstDash val="solid"/>
            <a:tailEnd type="triangle"/>
          </a:ln>
        </p:spPr>
      </p:sp>
      <p:sp>
        <p:nvSpPr>
          <p:cNvPr id="23" name="label_26"/>
          <p:cNvSpPr txBox="1"/>
          <p:nvPr/>
        </p:nvSpPr>
        <p:spPr>
          <a:xfrm>
            <a:off x="7667244" y="3867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453F"/>
                </a:solidFill>
              </a:rPr>
              <a:t>yes</a:t>
            </a:r>
            <a:endParaRPr lang="en-US" sz="1100" dirty="0"/>
          </a:p>
        </p:txBody>
      </p:sp>
      <p:sp>
        <p:nvSpPr>
          <p:cNvPr id="24" name="box_27"/>
          <p:cNvSpPr/>
          <p:nvPr/>
        </p:nvSpPr>
        <p:spPr>
          <a:xfrm>
            <a:off x="3383280" y="4206240"/>
            <a:ext cx="5422392" cy="1828800"/>
          </a:xfrm>
          <a:prstGeom prst="roundRect">
            <a:avLst>
              <a:gd name="adj" fmla="val 40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label_28"/>
          <p:cNvSpPr txBox="1"/>
          <p:nvPr/>
        </p:nvSpPr>
        <p:spPr>
          <a:xfrm>
            <a:off x="3566160" y="4279392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4FA0"/>
                </a:solidFill>
              </a:rPr>
              <a:t>VLM check: Qwen3-VL via Ollama (background thread)</a:t>
            </a:r>
            <a:endParaRPr lang="en-US" sz="1300" dirty="0"/>
          </a:p>
        </p:txBody>
      </p:sp>
      <p:sp>
        <p:nvSpPr>
          <p:cNvPr id="26" name="box_29"/>
          <p:cNvSpPr/>
          <p:nvPr/>
        </p:nvSpPr>
        <p:spPr>
          <a:xfrm>
            <a:off x="3547872" y="4736592"/>
            <a:ext cx="1563624" cy="1143000"/>
          </a:xfrm>
          <a:prstGeom prst="roundRect">
            <a:avLst>
              <a:gd name="adj" fmla="val 64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LOOK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raw image →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stacks bottom→top</a:t>
            </a:r>
            <a:endParaRPr lang="en-US" sz="1300" dirty="0"/>
          </a:p>
        </p:txBody>
      </p:sp>
      <p:sp>
        <p:nvSpPr>
          <p:cNvPr id="27" name="arrow_30"/>
          <p:cNvSpPr/>
          <p:nvPr/>
        </p:nvSpPr>
        <p:spPr>
          <a:xfrm>
            <a:off x="5111496" y="5308092"/>
            <a:ext cx="228600" cy="0"/>
          </a:xfrm>
          <a:prstGeom prst="line">
            <a:avLst/>
          </a:prstGeom>
          <a:noFill/>
          <a:ln w="22225">
            <a:solidFill>
              <a:srgbClr val="6B4FA0"/>
            </a:solidFill>
            <a:prstDash val="solid"/>
            <a:tailEnd type="triangle"/>
          </a:ln>
        </p:spPr>
      </p:sp>
      <p:sp>
        <p:nvSpPr>
          <p:cNvPr id="28" name="box_31"/>
          <p:cNvSpPr/>
          <p:nvPr/>
        </p:nvSpPr>
        <p:spPr>
          <a:xfrm>
            <a:off x="5340096" y="4736592"/>
            <a:ext cx="1563624" cy="1143000"/>
          </a:xfrm>
          <a:prstGeom prst="roundRect">
            <a:avLst>
              <a:gd name="adj" fmla="val 64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GROUND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boxes for cubes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YOLO missed</a:t>
            </a:r>
            <a:endParaRPr lang="en-US" sz="1300" dirty="0"/>
          </a:p>
        </p:txBody>
      </p:sp>
      <p:sp>
        <p:nvSpPr>
          <p:cNvPr id="29" name="arrow_32"/>
          <p:cNvSpPr/>
          <p:nvPr/>
        </p:nvSpPr>
        <p:spPr>
          <a:xfrm>
            <a:off x="6903720" y="5308092"/>
            <a:ext cx="228600" cy="0"/>
          </a:xfrm>
          <a:prstGeom prst="line">
            <a:avLst/>
          </a:prstGeom>
          <a:noFill/>
          <a:ln w="22225">
            <a:solidFill>
              <a:srgbClr val="6B4FA0"/>
            </a:solidFill>
            <a:prstDash val="solid"/>
            <a:tailEnd type="triangle"/>
          </a:ln>
        </p:spPr>
      </p:sp>
      <p:sp>
        <p:nvSpPr>
          <p:cNvPr id="30" name="box_33"/>
          <p:cNvSpPr/>
          <p:nvPr/>
        </p:nvSpPr>
        <p:spPr>
          <a:xfrm>
            <a:off x="7132320" y="4736592"/>
            <a:ext cx="1563624" cy="1143000"/>
          </a:xfrm>
          <a:prstGeom prst="roundRect">
            <a:avLst>
              <a:gd name="adj" fmla="val 64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PLAN + verify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moves replayed in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code; code fallback</a:t>
            </a:r>
            <a:endParaRPr lang="en-US" sz="1300" dirty="0"/>
          </a:p>
        </p:txBody>
      </p:sp>
      <p:sp>
        <p:nvSpPr>
          <p:cNvPr id="31" name="box_34"/>
          <p:cNvSpPr/>
          <p:nvPr/>
        </p:nvSpPr>
        <p:spPr>
          <a:xfrm>
            <a:off x="9235440" y="4206240"/>
            <a:ext cx="2496312" cy="18288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Outputs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GUI panel: verdict + steps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per settle: 4 images + result.json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session log</a:t>
            </a:r>
            <a:endParaRPr lang="en-US" sz="1400" dirty="0"/>
          </a:p>
        </p:txBody>
      </p:sp>
      <p:sp>
        <p:nvSpPr>
          <p:cNvPr id="32" name="arrow_35"/>
          <p:cNvSpPr/>
          <p:nvPr/>
        </p:nvSpPr>
        <p:spPr>
          <a:xfrm>
            <a:off x="10483596" y="3794760"/>
            <a:ext cx="0" cy="411480"/>
          </a:xfrm>
          <a:prstGeom prst="line">
            <a:avLst/>
          </a:prstGeom>
          <a:noFill/>
          <a:ln w="22225">
            <a:solidFill>
              <a:srgbClr val="3E8E5E"/>
            </a:solidFill>
            <a:prstDash val="solid"/>
            <a:tailEnd type="triangle"/>
          </a:ln>
        </p:spPr>
      </p:sp>
      <p:sp>
        <p:nvSpPr>
          <p:cNvPr id="33" name="arrow_36"/>
          <p:cNvSpPr/>
          <p:nvPr/>
        </p:nvSpPr>
        <p:spPr>
          <a:xfrm>
            <a:off x="8805672" y="5120640"/>
            <a:ext cx="429768" cy="0"/>
          </a:xfrm>
          <a:prstGeom prst="line">
            <a:avLst/>
          </a:prstGeom>
          <a:noFill/>
          <a:ln w="22225">
            <a:solidFill>
              <a:srgbClr val="6B4FA0"/>
            </a:solidFill>
            <a:prstDash val="solid"/>
            <a:tailEnd type="triangle"/>
          </a:ln>
        </p:spPr>
      </p:sp>
      <p:sp>
        <p:nvSpPr>
          <p:cNvPr id="34" name="card_37"/>
          <p:cNvSpPr/>
          <p:nvPr/>
        </p:nvSpPr>
        <p:spPr>
          <a:xfrm>
            <a:off x="457200" y="4206240"/>
            <a:ext cx="2496312" cy="1828800"/>
          </a:xfrm>
          <a:prstGeom prst="roundRect">
            <a:avLst>
              <a:gd name="adj" fmla="val 5000"/>
            </a:avLst>
          </a:prstGeom>
          <a:solidFill>
            <a:srgbClr val="6E7B8C">
              <a:alpha val="8000"/>
            </a:srgbClr>
          </a:solidFill>
          <a:ln w="12700">
            <a:solidFill>
              <a:srgbClr val="6E7B8C">
                <a:alpha val="60000"/>
              </a:srgbClr>
            </a:solidFill>
            <a:prstDash val="solid"/>
          </a:ln>
        </p:spPr>
      </p:sp>
      <p:sp>
        <p:nvSpPr>
          <p:cNvPr id="35" name="label_38"/>
          <p:cNvSpPr txBox="1"/>
          <p:nvPr/>
        </p:nvSpPr>
        <p:spPr>
          <a:xfrm>
            <a:off x="621792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Colour key</a:t>
            </a:r>
            <a:endParaRPr lang="en-US" sz="1200" dirty="0"/>
          </a:p>
        </p:txBody>
      </p:sp>
      <p:sp>
        <p:nvSpPr>
          <p:cNvPr id="36" name="key_39"/>
          <p:cNvSpPr/>
          <p:nvPr/>
        </p:nvSpPr>
        <p:spPr>
          <a:xfrm>
            <a:off x="640080" y="4672584"/>
            <a:ext cx="292608" cy="155448"/>
          </a:xfrm>
          <a:prstGeom prst="roundRect">
            <a:avLst>
              <a:gd name="adj" fmla="val 2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label_40"/>
          <p:cNvSpPr txBox="1"/>
          <p:nvPr/>
        </p:nvSpPr>
        <p:spPr>
          <a:xfrm>
            <a:off x="1024128" y="464515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Input + gating</a:t>
            </a:r>
            <a:endParaRPr lang="en-US" sz="1100" dirty="0"/>
          </a:p>
        </p:txBody>
      </p:sp>
      <p:sp>
        <p:nvSpPr>
          <p:cNvPr id="38" name="key_41"/>
          <p:cNvSpPr/>
          <p:nvPr/>
        </p:nvSpPr>
        <p:spPr>
          <a:xfrm>
            <a:off x="640080" y="4892040"/>
            <a:ext cx="292608" cy="155448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label_42"/>
          <p:cNvSpPr txBox="1"/>
          <p:nvPr/>
        </p:nvSpPr>
        <p:spPr>
          <a:xfrm>
            <a:off x="1024128" y="486460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Perception</a:t>
            </a:r>
            <a:endParaRPr lang="en-US" sz="1100" dirty="0"/>
          </a:p>
        </p:txBody>
      </p:sp>
      <p:sp>
        <p:nvSpPr>
          <p:cNvPr id="40" name="key_43"/>
          <p:cNvSpPr/>
          <p:nvPr/>
        </p:nvSpPr>
        <p:spPr>
          <a:xfrm>
            <a:off x="640080" y="5111496"/>
            <a:ext cx="292608" cy="155448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label_44"/>
          <p:cNvSpPr txBox="1"/>
          <p:nvPr/>
        </p:nvSpPr>
        <p:spPr>
          <a:xfrm>
            <a:off x="1024128" y="5084064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Goal + decision</a:t>
            </a:r>
            <a:endParaRPr lang="en-US" sz="1100" dirty="0"/>
          </a:p>
        </p:txBody>
      </p:sp>
      <p:sp>
        <p:nvSpPr>
          <p:cNvPr id="42" name="key_45"/>
          <p:cNvSpPr/>
          <p:nvPr/>
        </p:nvSpPr>
        <p:spPr>
          <a:xfrm>
            <a:off x="640080" y="5330952"/>
            <a:ext cx="292608" cy="155448"/>
          </a:xfrm>
          <a:prstGeom prst="roundRect">
            <a:avLst>
              <a:gd name="adj" fmla="val 235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3" name="label_46"/>
          <p:cNvSpPr txBox="1"/>
          <p:nvPr/>
        </p:nvSpPr>
        <p:spPr>
          <a:xfrm>
            <a:off x="1024128" y="530352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Code planner</a:t>
            </a:r>
            <a:endParaRPr lang="en-US" sz="1100" dirty="0"/>
          </a:p>
        </p:txBody>
      </p:sp>
      <p:sp>
        <p:nvSpPr>
          <p:cNvPr id="44" name="key_47"/>
          <p:cNvSpPr/>
          <p:nvPr/>
        </p:nvSpPr>
        <p:spPr>
          <a:xfrm>
            <a:off x="640080" y="5550408"/>
            <a:ext cx="292608" cy="155448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label_48"/>
          <p:cNvSpPr txBox="1"/>
          <p:nvPr/>
        </p:nvSpPr>
        <p:spPr>
          <a:xfrm>
            <a:off x="1024128" y="552297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VLM</a:t>
            </a:r>
            <a:endParaRPr lang="en-US" sz="1100" dirty="0"/>
          </a:p>
        </p:txBody>
      </p:sp>
      <p:sp>
        <p:nvSpPr>
          <p:cNvPr id="46" name="key_49"/>
          <p:cNvSpPr/>
          <p:nvPr/>
        </p:nvSpPr>
        <p:spPr>
          <a:xfrm>
            <a:off x="640080" y="5769864"/>
            <a:ext cx="292608" cy="155448"/>
          </a:xfrm>
          <a:prstGeom prst="roundRect">
            <a:avLst>
              <a:gd name="adj" fmla="val 235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7" name="label_50"/>
          <p:cNvSpPr txBox="1"/>
          <p:nvPr/>
        </p:nvSpPr>
        <p:spPr>
          <a:xfrm>
            <a:off x="1024128" y="57424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Outputs</a:t>
            </a:r>
            <a:endParaRPr lang="en-US" sz="1100" dirty="0"/>
          </a:p>
        </p:txBody>
      </p:sp>
      <p:sp>
        <p:nvSpPr>
          <p:cNvPr id="48" name="label_51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E7B8C"/>
                </a:solidFill>
              </a:rPr>
              <a:t>Every settle is saved (images + JSON) whether or not the VLM is called. The camera loop never waits for the VLM.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Start-up and goal setup</a:t>
            </a:r>
            <a:endParaRPr lang="en-US" sz="3200" dirty="0"/>
          </a:p>
        </p:txBody>
      </p:sp>
      <p:sp>
        <p:nvSpPr>
          <p:cNvPr id="3" name="box_52"/>
          <p:cNvSpPr/>
          <p:nvPr/>
        </p:nvSpPr>
        <p:spPr>
          <a:xfrm>
            <a:off x="457200" y="1325880"/>
            <a:ext cx="201168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Start script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parse arguments</a:t>
            </a:r>
            <a:endParaRPr lang="en-US" sz="1400" dirty="0"/>
          </a:p>
        </p:txBody>
      </p:sp>
      <p:sp>
        <p:nvSpPr>
          <p:cNvPr id="4" name="arrow_53"/>
          <p:cNvSpPr/>
          <p:nvPr/>
        </p:nvSpPr>
        <p:spPr>
          <a:xfrm>
            <a:off x="2468880" y="1805940"/>
            <a:ext cx="301752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5" name="box_54"/>
          <p:cNvSpPr/>
          <p:nvPr/>
        </p:nvSpPr>
        <p:spPr>
          <a:xfrm>
            <a:off x="2770632" y="1325880"/>
            <a:ext cx="2011680" cy="960120"/>
          </a:xfrm>
          <a:prstGeom prst="roundRect">
            <a:avLst>
              <a:gd name="adj" fmla="val 761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Check Ollama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model tag matched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ignoring case</a:t>
            </a:r>
            <a:endParaRPr lang="en-US" sz="1400" dirty="0"/>
          </a:p>
        </p:txBody>
      </p:sp>
      <p:sp>
        <p:nvSpPr>
          <p:cNvPr id="6" name="arrow_55"/>
          <p:cNvSpPr/>
          <p:nvPr/>
        </p:nvSpPr>
        <p:spPr>
          <a:xfrm>
            <a:off x="4782312" y="1805940"/>
            <a:ext cx="301752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7" name="box_56"/>
          <p:cNvSpPr/>
          <p:nvPr/>
        </p:nvSpPr>
        <p:spPr>
          <a:xfrm>
            <a:off x="5084064" y="1325880"/>
            <a:ext cx="201168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Load YOLO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class names →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known colours</a:t>
            </a:r>
            <a:endParaRPr lang="en-US" sz="1400" dirty="0"/>
          </a:p>
        </p:txBody>
      </p:sp>
      <p:sp>
        <p:nvSpPr>
          <p:cNvPr id="8" name="arrow_57"/>
          <p:cNvSpPr/>
          <p:nvPr/>
        </p:nvSpPr>
        <p:spPr>
          <a:xfrm>
            <a:off x="7095744" y="1805940"/>
            <a:ext cx="301752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9" name="box_58"/>
          <p:cNvSpPr/>
          <p:nvPr/>
        </p:nvSpPr>
        <p:spPr>
          <a:xfrm>
            <a:off x="7397496" y="1325880"/>
            <a:ext cx="201168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Set the goal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one of 3 sources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(below)</a:t>
            </a:r>
            <a:endParaRPr lang="en-US" sz="1400" dirty="0"/>
          </a:p>
        </p:txBody>
      </p:sp>
      <p:sp>
        <p:nvSpPr>
          <p:cNvPr id="10" name="arrow_59"/>
          <p:cNvSpPr/>
          <p:nvPr/>
        </p:nvSpPr>
        <p:spPr>
          <a:xfrm>
            <a:off x="9409176" y="1805940"/>
            <a:ext cx="301752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11" name="box_60"/>
          <p:cNvSpPr/>
          <p:nvPr/>
        </p:nvSpPr>
        <p:spPr>
          <a:xfrm>
            <a:off x="9710928" y="1325880"/>
            <a:ext cx="201168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Live monitoring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motion-gated loop</a:t>
            </a:r>
            <a:endParaRPr lang="en-US" sz="1400" dirty="0"/>
          </a:p>
        </p:txBody>
      </p:sp>
      <p:sp>
        <p:nvSpPr>
          <p:cNvPr id="12" name="card_61"/>
          <p:cNvSpPr/>
          <p:nvPr/>
        </p:nvSpPr>
        <p:spPr>
          <a:xfrm>
            <a:off x="457200" y="269748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D9962B">
              <a:alpha val="12000"/>
            </a:srgbClr>
          </a:solidFill>
          <a:ln w="12700">
            <a:solidFill>
              <a:srgbClr val="D9962B">
                <a:alpha val="60000"/>
              </a:srgbClr>
            </a:solidFill>
            <a:prstDash val="solid"/>
          </a:ln>
        </p:spPr>
      </p:sp>
      <p:sp>
        <p:nvSpPr>
          <p:cNvPr id="13" name="num_62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label_63"/>
          <p:cNvSpPr txBox="1"/>
          <p:nvPr/>
        </p:nvSpPr>
        <p:spPr>
          <a:xfrm>
            <a:off x="1143000" y="2880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Default: live capture</a:t>
            </a:r>
            <a:endParaRPr lang="en-US" sz="1500" dirty="0"/>
          </a:p>
        </p:txBody>
      </p:sp>
      <p:sp>
        <p:nvSpPr>
          <p:cNvPr id="15" name="text_64"/>
          <p:cNvSpPr txBox="1"/>
          <p:nvPr/>
        </p:nvSpPr>
        <p:spPr>
          <a:xfrm>
            <a:off x="685800" y="34747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Window shows "SET THE GOAL"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the target stack, press SPACE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Reading shown with boxes: ENTER accepts, SPACE captures again</a:t>
            </a:r>
            <a:endParaRPr lang="en-US" sz="1400" dirty="0"/>
          </a:p>
        </p:txBody>
      </p:sp>
      <p:sp>
        <p:nvSpPr>
          <p:cNvPr id="16" name="card_65"/>
          <p:cNvSpPr/>
          <p:nvPr/>
        </p:nvSpPr>
        <p:spPr>
          <a:xfrm>
            <a:off x="4311396" y="269748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D9962B">
              <a:alpha val="12000"/>
            </a:srgbClr>
          </a:solidFill>
          <a:ln w="12700">
            <a:solidFill>
              <a:srgbClr val="D9962B">
                <a:alpha val="60000"/>
              </a:srgbClr>
            </a:solidFill>
            <a:prstDash val="solid"/>
          </a:ln>
        </p:spPr>
      </p:sp>
      <p:sp>
        <p:nvSpPr>
          <p:cNvPr id="17" name="num_66"/>
          <p:cNvSpPr/>
          <p:nvPr/>
        </p:nvSpPr>
        <p:spPr>
          <a:xfrm>
            <a:off x="4494276" y="2880360"/>
            <a:ext cx="384048" cy="38404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label_67"/>
          <p:cNvSpPr txBox="1"/>
          <p:nvPr/>
        </p:nvSpPr>
        <p:spPr>
          <a:xfrm>
            <a:off x="4997196" y="2880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--goal-image FILE</a:t>
            </a:r>
            <a:endParaRPr lang="en-US" sz="1500" dirty="0"/>
          </a:p>
        </p:txBody>
      </p:sp>
      <p:sp>
        <p:nvSpPr>
          <p:cNvPr id="19" name="text_68"/>
          <p:cNvSpPr txBox="1"/>
          <p:nvPr/>
        </p:nvSpPr>
        <p:spPr>
          <a:xfrm>
            <a:off x="4539996" y="34747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Photo of the target stack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 once at start, no confirmation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Needed with --image (single-image mode)</a:t>
            </a:r>
            <a:endParaRPr lang="en-US" sz="1400" dirty="0"/>
          </a:p>
        </p:txBody>
      </p:sp>
      <p:sp>
        <p:nvSpPr>
          <p:cNvPr id="20" name="card_69"/>
          <p:cNvSpPr/>
          <p:nvPr/>
        </p:nvSpPr>
        <p:spPr>
          <a:xfrm>
            <a:off x="8165592" y="269748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D9962B">
              <a:alpha val="12000"/>
            </a:srgbClr>
          </a:solidFill>
          <a:ln w="12700">
            <a:solidFill>
              <a:srgbClr val="D9962B">
                <a:alpha val="60000"/>
              </a:srgbClr>
            </a:solidFill>
            <a:prstDash val="solid"/>
          </a:ln>
        </p:spPr>
      </p:sp>
      <p:sp>
        <p:nvSpPr>
          <p:cNvPr id="21" name="num_70"/>
          <p:cNvSpPr/>
          <p:nvPr/>
        </p:nvSpPr>
        <p:spPr>
          <a:xfrm>
            <a:off x="8348472" y="2880360"/>
            <a:ext cx="384048" cy="38404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label_71"/>
          <p:cNvSpPr txBox="1"/>
          <p:nvPr/>
        </p:nvSpPr>
        <p:spPr>
          <a:xfrm>
            <a:off x="8851392" y="2880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--goal red,green,black,white</a:t>
            </a:r>
            <a:endParaRPr lang="en-US" sz="1500" dirty="0"/>
          </a:p>
        </p:txBody>
      </p:sp>
      <p:sp>
        <p:nvSpPr>
          <p:cNvPr id="23" name="text_72"/>
          <p:cNvSpPr txBox="1"/>
          <p:nvPr/>
        </p:nvSpPr>
        <p:spPr>
          <a:xfrm>
            <a:off x="8394192" y="34747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 given directly, bottom → top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Colours checked against the YOLO classes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photo needed</a:t>
            </a:r>
            <a:endParaRPr lang="en-US" sz="1400" dirty="0"/>
          </a:p>
        </p:txBody>
      </p:sp>
      <p:sp>
        <p:nvSpPr>
          <p:cNvPr id="24" name="label_73"/>
          <p:cNvSpPr txBox="1"/>
          <p:nvPr/>
        </p:nvSpPr>
        <p:spPr>
          <a:xfrm>
            <a:off x="457200" y="54406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How a goal photo is read: YOLO + geometric reasoning, then the VLM LOOK on the raw image; the tallest stack is the goal. Saved in result/goal/goal_&lt;time&gt;/ (photo, annotated photo, goal.json).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Motion gate: run YOLO only when the scene settles</a:t>
            </a:r>
            <a:endParaRPr lang="en-US" sz="3200" dirty="0"/>
          </a:p>
        </p:txBody>
      </p:sp>
      <p:sp>
        <p:nvSpPr>
          <p:cNvPr id="3" name="box_74"/>
          <p:cNvSpPr/>
          <p:nvPr/>
        </p:nvSpPr>
        <p:spPr>
          <a:xfrm>
            <a:off x="731520" y="3154680"/>
            <a:ext cx="210312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IDLE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last result shown</a:t>
            </a:r>
            <a:endParaRPr lang="en-US" sz="1400" dirty="0"/>
          </a:p>
        </p:txBody>
      </p:sp>
      <p:sp>
        <p:nvSpPr>
          <p:cNvPr id="4" name="box_75"/>
          <p:cNvSpPr/>
          <p:nvPr/>
        </p:nvSpPr>
        <p:spPr>
          <a:xfrm>
            <a:off x="3474720" y="1371600"/>
            <a:ext cx="210312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MOVING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boxes hidden</a:t>
            </a:r>
            <a:endParaRPr lang="en-US" sz="1400" dirty="0"/>
          </a:p>
        </p:txBody>
      </p:sp>
      <p:sp>
        <p:nvSpPr>
          <p:cNvPr id="5" name="box_76"/>
          <p:cNvSpPr/>
          <p:nvPr/>
        </p:nvSpPr>
        <p:spPr>
          <a:xfrm>
            <a:off x="6217920" y="3154680"/>
            <a:ext cx="210312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SETTLING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motion → restart clock</a:t>
            </a:r>
            <a:endParaRPr lang="en-US" sz="1400" dirty="0"/>
          </a:p>
        </p:txBody>
      </p:sp>
      <p:sp>
        <p:nvSpPr>
          <p:cNvPr id="6" name="box_77"/>
          <p:cNvSpPr/>
          <p:nvPr/>
        </p:nvSpPr>
        <p:spPr>
          <a:xfrm>
            <a:off x="3474720" y="4937760"/>
            <a:ext cx="210312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CONFIRMING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YOLO on every frame</a:t>
            </a:r>
            <a:endParaRPr lang="en-US" sz="1400" dirty="0"/>
          </a:p>
        </p:txBody>
      </p:sp>
      <p:sp>
        <p:nvSpPr>
          <p:cNvPr id="7" name="arrow_78"/>
          <p:cNvSpPr/>
          <p:nvPr/>
        </p:nvSpPr>
        <p:spPr>
          <a:xfrm flipV="1">
            <a:off x="1783080" y="1828800"/>
            <a:ext cx="1691640" cy="132588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8" name="arrow_79"/>
          <p:cNvSpPr/>
          <p:nvPr/>
        </p:nvSpPr>
        <p:spPr>
          <a:xfrm>
            <a:off x="5577840" y="1828800"/>
            <a:ext cx="1691640" cy="132588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9" name="arrow_80"/>
          <p:cNvSpPr/>
          <p:nvPr/>
        </p:nvSpPr>
        <p:spPr>
          <a:xfrm flipH="1">
            <a:off x="5577840" y="4069080"/>
            <a:ext cx="1691640" cy="132588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10" name="arrow_81"/>
          <p:cNvSpPr/>
          <p:nvPr/>
        </p:nvSpPr>
        <p:spPr>
          <a:xfrm flipH="1" flipV="1">
            <a:off x="1783080" y="4069080"/>
            <a:ext cx="1691640" cy="1325880"/>
          </a:xfrm>
          <a:prstGeom prst="line">
            <a:avLst/>
          </a:prstGeom>
          <a:noFill/>
          <a:ln w="22225">
            <a:solidFill>
              <a:srgbClr val="3E8E5E"/>
            </a:solidFill>
            <a:prstDash val="solid"/>
            <a:tailEnd type="triangle"/>
          </a:ln>
        </p:spPr>
      </p:sp>
      <p:sp>
        <p:nvSpPr>
          <p:cNvPr id="11" name="arrow_82"/>
          <p:cNvSpPr/>
          <p:nvPr/>
        </p:nvSpPr>
        <p:spPr>
          <a:xfrm flipV="1">
            <a:off x="4937760" y="3995928"/>
            <a:ext cx="1783080" cy="941832"/>
          </a:xfrm>
          <a:prstGeom prst="line">
            <a:avLst/>
          </a:prstGeom>
          <a:noFill/>
          <a:ln w="22225">
            <a:solidFill>
              <a:srgbClr val="C0453F"/>
            </a:solidFill>
            <a:prstDash val="dash"/>
            <a:tailEnd type="triangle"/>
          </a:ln>
        </p:spPr>
      </p:sp>
      <p:sp>
        <p:nvSpPr>
          <p:cNvPr id="12" name="arrow_83"/>
          <p:cNvSpPr/>
          <p:nvPr/>
        </p:nvSpPr>
        <p:spPr>
          <a:xfrm>
            <a:off x="2331720" y="3995928"/>
            <a:ext cx="1783080" cy="941832"/>
          </a:xfrm>
          <a:prstGeom prst="line">
            <a:avLst/>
          </a:prstGeom>
          <a:noFill/>
          <a:ln w="22225">
            <a:solidFill>
              <a:srgbClr val="D9962B"/>
            </a:solidFill>
            <a:prstDash val="dash"/>
            <a:tailEnd type="triangle"/>
          </a:ln>
        </p:spPr>
      </p:sp>
      <p:sp>
        <p:nvSpPr>
          <p:cNvPr id="13" name="label_84"/>
          <p:cNvSpPr txBox="1"/>
          <p:nvPr/>
        </p:nvSpPr>
        <p:spPr>
          <a:xfrm>
            <a:off x="50292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motion in work area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(2 frames &gt; 1 % changed)</a:t>
            </a:r>
            <a:endParaRPr lang="en-US" sz="1100" dirty="0"/>
          </a:p>
        </p:txBody>
      </p:sp>
      <p:sp>
        <p:nvSpPr>
          <p:cNvPr id="14" name="label_85"/>
          <p:cNvSpPr txBox="1"/>
          <p:nvPr/>
        </p:nvSpPr>
        <p:spPr>
          <a:xfrm>
            <a:off x="708660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frame looks still</a:t>
            </a:r>
            <a:endParaRPr lang="en-US" sz="1100" dirty="0"/>
          </a:p>
        </p:txBody>
      </p:sp>
      <p:sp>
        <p:nvSpPr>
          <p:cNvPr id="15" name="label_86"/>
          <p:cNvSpPr txBox="1"/>
          <p:nvPr/>
        </p:nvSpPr>
        <p:spPr>
          <a:xfrm>
            <a:off x="6446520" y="4754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still for 0.7 s</a:t>
            </a:r>
            <a:endParaRPr lang="en-US" sz="1100" dirty="0"/>
          </a:p>
        </p:txBody>
      </p:sp>
      <p:sp>
        <p:nvSpPr>
          <p:cNvPr id="16" name="label_87"/>
          <p:cNvSpPr txBox="1"/>
          <p:nvPr/>
        </p:nvSpPr>
        <p:spPr>
          <a:xfrm>
            <a:off x="457200" y="4754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8E5E"/>
                </a:solidFill>
              </a:rPr>
              <a:t>3 matching YOLO results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E8E5E"/>
                </a:solidFill>
              </a:rPr>
              <a:t>→ NEW SETTLE</a:t>
            </a:r>
            <a:endParaRPr lang="en-US" sz="1100" dirty="0"/>
          </a:p>
        </p:txBody>
      </p:sp>
      <p:sp>
        <p:nvSpPr>
          <p:cNvPr id="17" name="label_88"/>
          <p:cNvSpPr txBox="1"/>
          <p:nvPr/>
        </p:nvSpPr>
        <p:spPr>
          <a:xfrm>
            <a:off x="534924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0453F"/>
                </a:solidFill>
              </a:rPr>
              <a:t>hand returns</a:t>
            </a:r>
            <a:endParaRPr lang="en-US" sz="1050" dirty="0"/>
          </a:p>
        </p:txBody>
      </p:sp>
      <p:sp>
        <p:nvSpPr>
          <p:cNvPr id="18" name="label_89"/>
          <p:cNvSpPr txBox="1"/>
          <p:nvPr/>
        </p:nvSpPr>
        <p:spPr>
          <a:xfrm>
            <a:off x="274320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9962B"/>
                </a:solidFill>
              </a:rPr>
              <a:t>heartbeat 5 s</a:t>
            </a:r>
            <a:endParaRPr lang="en-US" sz="1050" dirty="0"/>
          </a:p>
        </p:txBody>
      </p:sp>
      <p:sp>
        <p:nvSpPr>
          <p:cNvPr id="19" name="card_90"/>
          <p:cNvSpPr/>
          <p:nvPr/>
        </p:nvSpPr>
        <p:spPr>
          <a:xfrm>
            <a:off x="8732520" y="1280160"/>
            <a:ext cx="2999232" cy="4800600"/>
          </a:xfrm>
          <a:prstGeom prst="roundRect">
            <a:avLst>
              <a:gd name="adj" fmla="val 3049"/>
            </a:avLst>
          </a:prstGeom>
          <a:solidFill>
            <a:srgbClr val="2E3A48">
              <a:alpha val="8000"/>
            </a:srgbClr>
          </a:solidFill>
          <a:ln w="12700">
            <a:solidFill>
              <a:srgbClr val="2E3A48">
                <a:alpha val="60000"/>
              </a:srgbClr>
            </a:solidFill>
            <a:prstDash val="solid"/>
          </a:ln>
        </p:spPr>
      </p:sp>
      <p:sp>
        <p:nvSpPr>
          <p:cNvPr id="20" name="label_91"/>
          <p:cNvSpPr txBox="1"/>
          <p:nvPr/>
        </p:nvSpPr>
        <p:spPr>
          <a:xfrm>
            <a:off x="896112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it works</a:t>
            </a:r>
            <a:endParaRPr lang="en-US" sz="1500" dirty="0"/>
          </a:p>
        </p:txBody>
      </p:sp>
      <p:sp>
        <p:nvSpPr>
          <p:cNvPr id="21" name="text_92"/>
          <p:cNvSpPr txBox="1"/>
          <p:nvPr/>
        </p:nvSpPr>
        <p:spPr>
          <a:xfrm>
            <a:off x="8961120" y="1874520"/>
            <a:ext cx="2606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Motion = colour change against an anchor frame, in the work area set with the a key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Comparing with an anchor, not the last frame, catches a slow hand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CONFIRMING ends when 3 YOLO readings agree (or the majority after 15)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Every settle after real motion is saved, even if the reading did not change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heartbeat counts only if the reading changed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Perception: YOLO + geometric reasoning</a:t>
            </a:r>
            <a:endParaRPr lang="en-US" sz="3200" dirty="0"/>
          </a:p>
        </p:txBody>
      </p:sp>
      <p:sp>
        <p:nvSpPr>
          <p:cNvPr id="3" name="card_93"/>
          <p:cNvSpPr/>
          <p:nvPr/>
        </p:nvSpPr>
        <p:spPr>
          <a:xfrm>
            <a:off x="457200" y="1234440"/>
            <a:ext cx="3557016" cy="2148840"/>
          </a:xfrm>
          <a:prstGeom prst="roundRect">
            <a:avLst>
              <a:gd name="adj" fmla="val 4255"/>
            </a:avLst>
          </a:prstGeom>
          <a:solidFill>
            <a:srgbClr val="24708F">
              <a:alpha val="12000"/>
            </a:srgbClr>
          </a:solidFill>
          <a:ln w="12700">
            <a:solidFill>
              <a:srgbClr val="24708F">
                <a:alpha val="60000"/>
              </a:srgbClr>
            </a:solidFill>
            <a:prstDash val="solid"/>
          </a:ln>
        </p:spPr>
      </p:sp>
      <p:sp>
        <p:nvSpPr>
          <p:cNvPr id="4" name="num_94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label_95"/>
          <p:cNvSpPr txBox="1"/>
          <p:nvPr/>
        </p:nvSpPr>
        <p:spPr>
          <a:xfrm>
            <a:off x="1143000" y="1417320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YOLO detector</a:t>
            </a:r>
            <a:endParaRPr lang="en-US" sz="1500" dirty="0"/>
          </a:p>
        </p:txBody>
      </p:sp>
      <p:sp>
        <p:nvSpPr>
          <p:cNvPr id="6" name="label_96"/>
          <p:cNvSpPr txBox="1"/>
          <p:nvPr/>
        </p:nvSpPr>
        <p:spPr>
          <a:xfrm>
            <a:off x="685800" y="196596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Class (red / green / black / white) and box for each visible cube. Often misses: the bottom cube of a stack, cubes in shadow, white against a white wall.</a:t>
            </a:r>
            <a:endParaRPr lang="en-US" sz="1400" dirty="0"/>
          </a:p>
        </p:txBody>
      </p:sp>
      <p:sp>
        <p:nvSpPr>
          <p:cNvPr id="7" name="arrow_97"/>
          <p:cNvSpPr/>
          <p:nvPr/>
        </p:nvSpPr>
        <p:spPr>
          <a:xfrm>
            <a:off x="4014216" y="2308860"/>
            <a:ext cx="301752" cy="0"/>
          </a:xfrm>
          <a:prstGeom prst="line">
            <a:avLst/>
          </a:prstGeom>
          <a:noFill/>
          <a:ln w="22225">
            <a:solidFill>
              <a:srgbClr val="24708F"/>
            </a:solidFill>
            <a:prstDash val="solid"/>
            <a:tailEnd type="triangle"/>
          </a:ln>
        </p:spPr>
      </p:sp>
      <p:sp>
        <p:nvSpPr>
          <p:cNvPr id="8" name="card_98"/>
          <p:cNvSpPr/>
          <p:nvPr/>
        </p:nvSpPr>
        <p:spPr>
          <a:xfrm>
            <a:off x="4315968" y="1234440"/>
            <a:ext cx="3557016" cy="2148840"/>
          </a:xfrm>
          <a:prstGeom prst="roundRect">
            <a:avLst>
              <a:gd name="adj" fmla="val 4255"/>
            </a:avLst>
          </a:prstGeom>
          <a:solidFill>
            <a:srgbClr val="24708F">
              <a:alpha val="12000"/>
            </a:srgbClr>
          </a:solidFill>
          <a:ln w="12700">
            <a:solidFill>
              <a:srgbClr val="24708F">
                <a:alpha val="60000"/>
              </a:srgbClr>
            </a:solidFill>
            <a:prstDash val="solid"/>
          </a:ln>
        </p:spPr>
      </p:sp>
      <p:sp>
        <p:nvSpPr>
          <p:cNvPr id="9" name="num_99"/>
          <p:cNvSpPr/>
          <p:nvPr/>
        </p:nvSpPr>
        <p:spPr>
          <a:xfrm>
            <a:off x="4498848" y="1417320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label_100"/>
          <p:cNvSpPr txBox="1"/>
          <p:nvPr/>
        </p:nvSpPr>
        <p:spPr>
          <a:xfrm>
            <a:off x="5001768" y="1417320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Colour check</a:t>
            </a:r>
            <a:endParaRPr lang="en-US" sz="1500" dirty="0"/>
          </a:p>
        </p:txBody>
      </p:sp>
      <p:sp>
        <p:nvSpPr>
          <p:cNvPr id="11" name="label_101"/>
          <p:cNvSpPr txBox="1"/>
          <p:nvPr/>
        </p:nvSpPr>
        <p:spPr>
          <a:xfrm>
            <a:off x="4544568" y="196596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HSV of the box centre. An unsaturated "red" or "green" is relabelled white or black; a bright "black" box is rejected.</a:t>
            </a:r>
            <a:endParaRPr lang="en-US" sz="1400" dirty="0"/>
          </a:p>
        </p:txBody>
      </p:sp>
      <p:sp>
        <p:nvSpPr>
          <p:cNvPr id="12" name="arrow_102"/>
          <p:cNvSpPr/>
          <p:nvPr/>
        </p:nvSpPr>
        <p:spPr>
          <a:xfrm>
            <a:off x="7872984" y="2308860"/>
            <a:ext cx="301752" cy="0"/>
          </a:xfrm>
          <a:prstGeom prst="line">
            <a:avLst/>
          </a:prstGeom>
          <a:noFill/>
          <a:ln w="22225">
            <a:solidFill>
              <a:srgbClr val="24708F"/>
            </a:solidFill>
            <a:prstDash val="solid"/>
            <a:tailEnd type="triangle"/>
          </a:ln>
        </p:spPr>
      </p:sp>
      <p:sp>
        <p:nvSpPr>
          <p:cNvPr id="13" name="card_103"/>
          <p:cNvSpPr/>
          <p:nvPr/>
        </p:nvSpPr>
        <p:spPr>
          <a:xfrm>
            <a:off x="8174736" y="1234440"/>
            <a:ext cx="3557016" cy="2148840"/>
          </a:xfrm>
          <a:prstGeom prst="roundRect">
            <a:avLst>
              <a:gd name="adj" fmla="val 4255"/>
            </a:avLst>
          </a:prstGeom>
          <a:solidFill>
            <a:srgbClr val="24708F">
              <a:alpha val="12000"/>
            </a:srgbClr>
          </a:solidFill>
          <a:ln w="12700">
            <a:solidFill>
              <a:srgbClr val="24708F">
                <a:alpha val="60000"/>
              </a:srgbClr>
            </a:solidFill>
            <a:prstDash val="solid"/>
          </a:ln>
        </p:spPr>
      </p:sp>
      <p:sp>
        <p:nvSpPr>
          <p:cNvPr id="14" name="num_104"/>
          <p:cNvSpPr/>
          <p:nvPr/>
        </p:nvSpPr>
        <p:spPr>
          <a:xfrm>
            <a:off x="8357616" y="1417320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label_105"/>
          <p:cNvSpPr txBox="1"/>
          <p:nvPr/>
        </p:nvSpPr>
        <p:spPr>
          <a:xfrm>
            <a:off x="8860536" y="1417320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Duplicate + side-face merge</a:t>
            </a:r>
            <a:endParaRPr lang="en-US" sz="1500" dirty="0"/>
          </a:p>
        </p:txBody>
      </p:sp>
      <p:sp>
        <p:nvSpPr>
          <p:cNvPr id="16" name="label_106"/>
          <p:cNvSpPr txBox="1"/>
          <p:nvPr/>
        </p:nvSpPr>
        <p:spPr>
          <a:xfrm>
            <a:off x="8403336" y="196596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Same-colour boxes side by side are one turned cube: the most confident box is kept. Boxes with width / height &lt; 0.6 are side faces.</a:t>
            </a:r>
            <a:endParaRPr lang="en-US" sz="1400" dirty="0"/>
          </a:p>
        </p:txBody>
      </p:sp>
      <p:sp>
        <p:nvSpPr>
          <p:cNvPr id="17" name="card_107"/>
          <p:cNvSpPr/>
          <p:nvPr/>
        </p:nvSpPr>
        <p:spPr>
          <a:xfrm>
            <a:off x="457200" y="3657600"/>
            <a:ext cx="3557016" cy="2148840"/>
          </a:xfrm>
          <a:prstGeom prst="roundRect">
            <a:avLst>
              <a:gd name="adj" fmla="val 4255"/>
            </a:avLst>
          </a:prstGeom>
          <a:solidFill>
            <a:srgbClr val="24708F">
              <a:alpha val="12000"/>
            </a:srgbClr>
          </a:solidFill>
          <a:ln w="12700">
            <a:solidFill>
              <a:srgbClr val="24708F">
                <a:alpha val="60000"/>
              </a:srgbClr>
            </a:solidFill>
            <a:prstDash val="solid"/>
          </a:ln>
        </p:spPr>
      </p:sp>
      <p:sp>
        <p:nvSpPr>
          <p:cNvPr id="18" name="num_108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label_109"/>
          <p:cNvSpPr txBox="1"/>
          <p:nvPr/>
        </p:nvSpPr>
        <p:spPr>
          <a:xfrm>
            <a:off x="1143000" y="3840480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Stack grouping</a:t>
            </a:r>
            <a:endParaRPr lang="en-US" sz="1500" dirty="0"/>
          </a:p>
        </p:txBody>
      </p:sp>
      <p:sp>
        <p:nvSpPr>
          <p:cNvPr id="20" name="label_110"/>
          <p:cNvSpPr txBox="1"/>
          <p:nvPr/>
        </p:nvSpPr>
        <p:spPr>
          <a:xfrm>
            <a:off x="685800" y="438912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Boxes in one column with similar width form a stack, sorted bottom → top by height in the image. Side faces join the column they touch.</a:t>
            </a:r>
            <a:endParaRPr lang="en-US" sz="1400" dirty="0"/>
          </a:p>
        </p:txBody>
      </p:sp>
      <p:sp>
        <p:nvSpPr>
          <p:cNvPr id="21" name="arrow_111"/>
          <p:cNvSpPr/>
          <p:nvPr/>
        </p:nvSpPr>
        <p:spPr>
          <a:xfrm>
            <a:off x="4014216" y="4732020"/>
            <a:ext cx="301752" cy="0"/>
          </a:xfrm>
          <a:prstGeom prst="line">
            <a:avLst/>
          </a:prstGeom>
          <a:noFill/>
          <a:ln w="22225">
            <a:solidFill>
              <a:srgbClr val="24708F"/>
            </a:solidFill>
            <a:prstDash val="solid"/>
            <a:tailEnd type="triangle"/>
          </a:ln>
        </p:spPr>
      </p:sp>
      <p:sp>
        <p:nvSpPr>
          <p:cNvPr id="22" name="card_112"/>
          <p:cNvSpPr/>
          <p:nvPr/>
        </p:nvSpPr>
        <p:spPr>
          <a:xfrm>
            <a:off x="4315968" y="3657600"/>
            <a:ext cx="3557016" cy="2148840"/>
          </a:xfrm>
          <a:prstGeom prst="roundRect">
            <a:avLst>
              <a:gd name="adj" fmla="val 4255"/>
            </a:avLst>
          </a:prstGeom>
          <a:solidFill>
            <a:srgbClr val="24708F">
              <a:alpha val="12000"/>
            </a:srgbClr>
          </a:solidFill>
          <a:ln w="12700">
            <a:solidFill>
              <a:srgbClr val="24708F">
                <a:alpha val="60000"/>
              </a:srgbClr>
            </a:solidFill>
            <a:prstDash val="solid"/>
          </a:ln>
        </p:spPr>
      </p:sp>
      <p:sp>
        <p:nvSpPr>
          <p:cNvPr id="23" name="num_113"/>
          <p:cNvSpPr/>
          <p:nvPr/>
        </p:nvSpPr>
        <p:spPr>
          <a:xfrm>
            <a:off x="4498848" y="3840480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label_114"/>
          <p:cNvSpPr txBox="1"/>
          <p:nvPr/>
        </p:nvSpPr>
        <p:spPr>
          <a:xfrm>
            <a:off x="5001768" y="3840480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Hidden-cube probe</a:t>
            </a:r>
            <a:endParaRPr lang="en-US" sz="1500" dirty="0"/>
          </a:p>
        </p:txBody>
      </p:sp>
      <p:sp>
        <p:nvSpPr>
          <p:cNvPr id="25" name="label_115"/>
          <p:cNvSpPr txBox="1"/>
          <p:nvPr/>
        </p:nvSpPr>
        <p:spPr>
          <a:xfrm>
            <a:off x="4544568" y="438912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cube-step below each stack: if every cell of a 3×3 grid matches one cube colour, a cube is inferred: dashed box, "(geometric reasoning)".</a:t>
            </a:r>
            <a:endParaRPr lang="en-US" sz="1400" dirty="0"/>
          </a:p>
        </p:txBody>
      </p:sp>
      <p:sp>
        <p:nvSpPr>
          <p:cNvPr id="26" name="arrow_116"/>
          <p:cNvSpPr/>
          <p:nvPr/>
        </p:nvSpPr>
        <p:spPr>
          <a:xfrm>
            <a:off x="7872984" y="4732020"/>
            <a:ext cx="301752" cy="0"/>
          </a:xfrm>
          <a:prstGeom prst="line">
            <a:avLst/>
          </a:prstGeom>
          <a:noFill/>
          <a:ln w="22225">
            <a:solidFill>
              <a:srgbClr val="24708F"/>
            </a:solidFill>
            <a:prstDash val="solid"/>
            <a:tailEnd type="triangle"/>
          </a:ln>
        </p:spPr>
      </p:sp>
      <p:sp>
        <p:nvSpPr>
          <p:cNvPr id="27" name="card_117"/>
          <p:cNvSpPr/>
          <p:nvPr/>
        </p:nvSpPr>
        <p:spPr>
          <a:xfrm>
            <a:off x="8174736" y="3657600"/>
            <a:ext cx="3557016" cy="2148840"/>
          </a:xfrm>
          <a:prstGeom prst="roundRect">
            <a:avLst>
              <a:gd name="adj" fmla="val 4255"/>
            </a:avLst>
          </a:prstGeom>
          <a:solidFill>
            <a:srgbClr val="24708F">
              <a:alpha val="12000"/>
            </a:srgbClr>
          </a:solidFill>
          <a:ln w="12700">
            <a:solidFill>
              <a:srgbClr val="24708F">
                <a:alpha val="60000"/>
              </a:srgbClr>
            </a:solidFill>
            <a:prstDash val="solid"/>
          </a:ln>
        </p:spPr>
      </p:sp>
      <p:sp>
        <p:nvSpPr>
          <p:cNvPr id="28" name="num_118"/>
          <p:cNvSpPr/>
          <p:nvPr/>
        </p:nvSpPr>
        <p:spPr>
          <a:xfrm>
            <a:off x="8357616" y="3840480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label_119"/>
          <p:cNvSpPr txBox="1"/>
          <p:nvPr/>
        </p:nvSpPr>
        <p:spPr>
          <a:xfrm>
            <a:off x="8860536" y="3840480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Reading</a:t>
            </a:r>
            <a:endParaRPr lang="en-US" sz="1500" dirty="0"/>
          </a:p>
        </p:txBody>
      </p:sp>
      <p:sp>
        <p:nvSpPr>
          <p:cNvPr id="30" name="label_120"/>
          <p:cNvSpPr txBox="1"/>
          <p:nvPr/>
        </p:nvSpPr>
        <p:spPr>
          <a:xfrm>
            <a:off x="8403336" y="438912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Stacks bottom → top plus single table cubes, e.g. red&gt;green&gt;black | white. Passed to the order check against the goal.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When is the VLM called? Only on an anomaly</a:t>
            </a:r>
            <a:endParaRPr lang="en-US" sz="3200" dirty="0"/>
          </a:p>
        </p:txBody>
      </p:sp>
      <p:graphicFrame>
        <p:nvGraphicFramePr>
          <p:cNvPr id="7" name="table_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60350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788920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Trigger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(goal r&gt;g&gt;b&gt;w)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6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Wrong order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A stacked cube is not the goal cube for its position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stack r &gt; g &gt; w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Cube not seen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A goal cube is detected nowhere: YOLO probably missed it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white not found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Gap in a stack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Spacing in a stack far larger than usual: a cube may be hidden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r &gt; [gap] &gt; b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v key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Manual check by the worker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any scene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label_122"/>
          <p:cNvSpPr txBox="1"/>
          <p:nvPr/>
        </p:nvSpPr>
        <p:spPr>
          <a:xfrm>
            <a:off x="457200" y="43434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Not an anomaly: a complete stack, or a stack that is correct so far with the remaining cubes on the table. The code planner answers at once and the panel says "VLM not called: no anomaly against the goal".</a:t>
            </a:r>
            <a:endParaRPr lang="en-US" sz="1300" dirty="0"/>
          </a:p>
        </p:txBody>
      </p:sp>
      <p:sp>
        <p:nvSpPr>
          <p:cNvPr id="5" name="card_123"/>
          <p:cNvSpPr/>
          <p:nvPr/>
        </p:nvSpPr>
        <p:spPr>
          <a:xfrm>
            <a:off x="6903720" y="1234440"/>
            <a:ext cx="2313432" cy="4343400"/>
          </a:xfrm>
          <a:prstGeom prst="roundRect">
            <a:avLst>
              <a:gd name="adj" fmla="val 3953"/>
            </a:avLst>
          </a:prstGeom>
          <a:solidFill>
            <a:srgbClr val="3E8E5E">
              <a:alpha val="12000"/>
            </a:srgbClr>
          </a:solidFill>
          <a:ln w="12700">
            <a:solidFill>
              <a:srgbClr val="3E8E5E">
                <a:alpha val="60000"/>
              </a:srgbClr>
            </a:solidFill>
            <a:prstDash val="solid"/>
          </a:ln>
        </p:spPr>
      </p:sp>
      <p:sp>
        <p:nvSpPr>
          <p:cNvPr id="6" name="label_124"/>
          <p:cNvSpPr txBox="1"/>
          <p:nvPr/>
        </p:nvSpPr>
        <p:spPr>
          <a:xfrm>
            <a:off x="7086600" y="13716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E8E5E"/>
                </a:solidFill>
              </a:rPr>
              <a:t>No anomaly</a:t>
            </a:r>
            <a:endParaRPr lang="en-US" sz="1600" dirty="0"/>
          </a:p>
        </p:txBody>
      </p:sp>
      <p:sp>
        <p:nvSpPr>
          <p:cNvPr id="7" name="cube_red_125"/>
          <p:cNvSpPr/>
          <p:nvPr/>
        </p:nvSpPr>
        <p:spPr>
          <a:xfrm>
            <a:off x="7315200" y="3474720"/>
            <a:ext cx="502920" cy="502920"/>
          </a:xfrm>
          <a:prstGeom prst="rect">
            <a:avLst/>
          </a:prstGeom>
          <a:solidFill>
            <a:srgbClr val="D33A32"/>
          </a:solidFill>
          <a:ln w="9525">
            <a:solidFill>
              <a:srgbClr val="8A97A8"/>
            </a:solidFill>
            <a:prstDash val="solid"/>
          </a:ln>
        </p:spPr>
      </p:sp>
      <p:sp>
        <p:nvSpPr>
          <p:cNvPr id="8" name="cube_green_126"/>
          <p:cNvSpPr/>
          <p:nvPr/>
        </p:nvSpPr>
        <p:spPr>
          <a:xfrm>
            <a:off x="7315200" y="2971800"/>
            <a:ext cx="502920" cy="502920"/>
          </a:xfrm>
          <a:prstGeom prst="rect">
            <a:avLst/>
          </a:prstGeom>
          <a:solidFill>
            <a:srgbClr val="7DBB45"/>
          </a:solidFill>
          <a:ln w="9525">
            <a:solidFill>
              <a:srgbClr val="8A97A8"/>
            </a:solidFill>
            <a:prstDash val="solid"/>
          </a:ln>
        </p:spPr>
      </p:sp>
      <p:sp>
        <p:nvSpPr>
          <p:cNvPr id="9" name="cube_black_127"/>
          <p:cNvSpPr/>
          <p:nvPr/>
        </p:nvSpPr>
        <p:spPr>
          <a:xfrm>
            <a:off x="7315200" y="2468880"/>
            <a:ext cx="502920" cy="502920"/>
          </a:xfrm>
          <a:prstGeom prst="rect">
            <a:avLst/>
          </a:prstGeom>
          <a:solidFill>
            <a:srgbClr val="1E1E1E"/>
          </a:solidFill>
          <a:ln w="9525">
            <a:solidFill>
              <a:srgbClr val="8A97A8"/>
            </a:solidFill>
            <a:prstDash val="solid"/>
          </a:ln>
        </p:spPr>
      </p:sp>
      <p:sp>
        <p:nvSpPr>
          <p:cNvPr id="10" name="cube_white_128"/>
          <p:cNvSpPr/>
          <p:nvPr/>
        </p:nvSpPr>
        <p:spPr>
          <a:xfrm>
            <a:off x="8321040" y="3474720"/>
            <a:ext cx="502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8A97A8"/>
            </a:solidFill>
            <a:prstDash val="solid"/>
          </a:ln>
        </p:spPr>
      </p:sp>
      <p:sp>
        <p:nvSpPr>
          <p:cNvPr id="11" name="table_line_129"/>
          <p:cNvSpPr/>
          <p:nvPr/>
        </p:nvSpPr>
        <p:spPr>
          <a:xfrm>
            <a:off x="7132320" y="3977640"/>
            <a:ext cx="1856232" cy="0"/>
          </a:xfrm>
          <a:prstGeom prst="line">
            <a:avLst/>
          </a:prstGeom>
          <a:noFill/>
          <a:ln w="25400">
            <a:solidFill>
              <a:srgbClr val="8A6A45"/>
            </a:solidFill>
            <a:prstDash val="solid"/>
          </a:ln>
        </p:spPr>
      </p:sp>
      <p:sp>
        <p:nvSpPr>
          <p:cNvPr id="12" name="label_130"/>
          <p:cNvSpPr txBox="1"/>
          <p:nvPr/>
        </p:nvSpPr>
        <p:spPr>
          <a:xfrm>
            <a:off x="7086600" y="4160520"/>
            <a:ext cx="1947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in progress → code planner: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1. Put WHITE on BLACK</a:t>
            </a:r>
            <a:endParaRPr lang="en-US" sz="1350" dirty="0"/>
          </a:p>
        </p:txBody>
      </p:sp>
      <p:sp>
        <p:nvSpPr>
          <p:cNvPr id="13" name="card_131"/>
          <p:cNvSpPr/>
          <p:nvPr/>
        </p:nvSpPr>
        <p:spPr>
          <a:xfrm>
            <a:off x="9418320" y="1234440"/>
            <a:ext cx="2313432" cy="4343400"/>
          </a:xfrm>
          <a:prstGeom prst="roundRect">
            <a:avLst>
              <a:gd name="adj" fmla="val 3953"/>
            </a:avLst>
          </a:prstGeom>
          <a:solidFill>
            <a:srgbClr val="C0453F">
              <a:alpha val="12000"/>
            </a:srgbClr>
          </a:solidFill>
          <a:ln w="12700">
            <a:solidFill>
              <a:srgbClr val="C0453F">
                <a:alpha val="60000"/>
              </a:srgbClr>
            </a:solidFill>
            <a:prstDash val="solid"/>
          </a:ln>
        </p:spPr>
      </p:sp>
      <p:sp>
        <p:nvSpPr>
          <p:cNvPr id="14" name="label_132"/>
          <p:cNvSpPr txBox="1"/>
          <p:nvPr/>
        </p:nvSpPr>
        <p:spPr>
          <a:xfrm>
            <a:off x="9601200" y="13716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453F"/>
                </a:solidFill>
              </a:rPr>
              <a:t>Anomaly</a:t>
            </a:r>
            <a:endParaRPr lang="en-US" sz="1600" dirty="0"/>
          </a:p>
        </p:txBody>
      </p:sp>
      <p:sp>
        <p:nvSpPr>
          <p:cNvPr id="15" name="cube_red_133"/>
          <p:cNvSpPr/>
          <p:nvPr/>
        </p:nvSpPr>
        <p:spPr>
          <a:xfrm>
            <a:off x="9829800" y="3474720"/>
            <a:ext cx="502920" cy="502920"/>
          </a:xfrm>
          <a:prstGeom prst="rect">
            <a:avLst/>
          </a:prstGeom>
          <a:solidFill>
            <a:srgbClr val="D33A32"/>
          </a:solidFill>
          <a:ln w="9525">
            <a:solidFill>
              <a:srgbClr val="8A97A8"/>
            </a:solidFill>
            <a:prstDash val="solid"/>
          </a:ln>
        </p:spPr>
      </p:sp>
      <p:sp>
        <p:nvSpPr>
          <p:cNvPr id="16" name="cube_green_134"/>
          <p:cNvSpPr/>
          <p:nvPr/>
        </p:nvSpPr>
        <p:spPr>
          <a:xfrm>
            <a:off x="9829800" y="2971800"/>
            <a:ext cx="502920" cy="502920"/>
          </a:xfrm>
          <a:prstGeom prst="rect">
            <a:avLst/>
          </a:prstGeom>
          <a:solidFill>
            <a:srgbClr val="7DBB45"/>
          </a:solidFill>
          <a:ln w="9525">
            <a:solidFill>
              <a:srgbClr val="8A97A8"/>
            </a:solidFill>
            <a:prstDash val="solid"/>
          </a:ln>
        </p:spPr>
      </p:sp>
      <p:sp>
        <p:nvSpPr>
          <p:cNvPr id="17" name="cube_white_135"/>
          <p:cNvSpPr/>
          <p:nvPr/>
        </p:nvSpPr>
        <p:spPr>
          <a:xfrm>
            <a:off x="9829800" y="2468880"/>
            <a:ext cx="502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8A97A8"/>
            </a:solidFill>
            <a:prstDash val="solid"/>
          </a:ln>
        </p:spPr>
      </p:sp>
      <p:sp>
        <p:nvSpPr>
          <p:cNvPr id="18" name="cube_black_136"/>
          <p:cNvSpPr/>
          <p:nvPr/>
        </p:nvSpPr>
        <p:spPr>
          <a:xfrm>
            <a:off x="10835640" y="3474720"/>
            <a:ext cx="502920" cy="502920"/>
          </a:xfrm>
          <a:prstGeom prst="rect">
            <a:avLst/>
          </a:prstGeom>
          <a:solidFill>
            <a:srgbClr val="1E1E1E"/>
          </a:solidFill>
          <a:ln w="9525">
            <a:solidFill>
              <a:srgbClr val="8A97A8"/>
            </a:solidFill>
            <a:prstDash val="solid"/>
          </a:ln>
        </p:spPr>
      </p:sp>
      <p:sp>
        <p:nvSpPr>
          <p:cNvPr id="19" name="table_line_137"/>
          <p:cNvSpPr/>
          <p:nvPr/>
        </p:nvSpPr>
        <p:spPr>
          <a:xfrm>
            <a:off x="9646920" y="3977640"/>
            <a:ext cx="1856232" cy="0"/>
          </a:xfrm>
          <a:prstGeom prst="line">
            <a:avLst/>
          </a:prstGeom>
          <a:noFill/>
          <a:ln w="25400">
            <a:solidFill>
              <a:srgbClr val="8A6A45"/>
            </a:solidFill>
            <a:prstDash val="solid"/>
          </a:ln>
        </p:spPr>
      </p:sp>
      <p:sp>
        <p:nvSpPr>
          <p:cNvPr id="20" name="label_138"/>
          <p:cNvSpPr txBox="1"/>
          <p:nvPr/>
        </p:nvSpPr>
        <p:spPr>
          <a:xfrm>
            <a:off x="9601200" y="4160520"/>
            <a:ext cx="1947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wrong order → VLM checks: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1. WHITE to the table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2. BLACK on GREEN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3. WHITE on BLACK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VLM check: LOOK → GROUND → PLAN</a:t>
            </a:r>
            <a:endParaRPr lang="en-US" sz="3200" dirty="0"/>
          </a:p>
        </p:txBody>
      </p:sp>
      <p:sp>
        <p:nvSpPr>
          <p:cNvPr id="3" name="card_139"/>
          <p:cNvSpPr/>
          <p:nvPr/>
        </p:nvSpPr>
        <p:spPr>
          <a:xfrm>
            <a:off x="457200" y="118872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6B4FA0">
              <a:alpha val="12000"/>
            </a:srgbClr>
          </a:solidFill>
          <a:ln w="12700">
            <a:solidFill>
              <a:srgbClr val="6B4FA0">
                <a:alpha val="60000"/>
              </a:srgbClr>
            </a:solidFill>
            <a:prstDash val="solid"/>
          </a:ln>
        </p:spPr>
      </p:sp>
      <p:sp>
        <p:nvSpPr>
          <p:cNvPr id="4" name="num_140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label_141"/>
          <p:cNvSpPr txBox="1"/>
          <p:nvPr/>
        </p:nvSpPr>
        <p:spPr>
          <a:xfrm>
            <a:off x="1143000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4FA0"/>
                </a:solidFill>
              </a:rPr>
              <a:t>LOOK</a:t>
            </a:r>
            <a:endParaRPr lang="en-US" sz="1500" dirty="0"/>
          </a:p>
        </p:txBody>
      </p:sp>
      <p:sp>
        <p:nvSpPr>
          <p:cNvPr id="6" name="label_142"/>
          <p:cNvSpPr txBox="1"/>
          <p:nvPr/>
        </p:nvSpPr>
        <p:spPr>
          <a:xfrm>
            <a:off x="1143000" y="1591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Read the scene</a:t>
            </a:r>
            <a:endParaRPr lang="en-US" sz="1100" dirty="0"/>
          </a:p>
        </p:txBody>
      </p:sp>
      <p:sp>
        <p:nvSpPr>
          <p:cNvPr id="7" name="text_143"/>
          <p:cNvSpPr txBox="1"/>
          <p:nvPr/>
        </p:nvSpPr>
        <p:spPr>
          <a:xfrm>
            <a:off x="685800" y="2011680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Input: raw settled frame, no boxes or YOLO hints (768 px)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Output (JSON schema): stacks [[bottom … top]], table [ … ]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Rejected if a colour is listed twice or a confident YOLO cube (≥ 0.6) is missing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Re-asked once with the reason, else the YOLO reading is used</a:t>
            </a:r>
            <a:endParaRPr lang="en-US" sz="1300" dirty="0"/>
          </a:p>
        </p:txBody>
      </p:sp>
      <p:sp>
        <p:nvSpPr>
          <p:cNvPr id="8" name="arrow_144"/>
          <p:cNvSpPr/>
          <p:nvPr/>
        </p:nvSpPr>
        <p:spPr>
          <a:xfrm>
            <a:off x="4023360" y="2720340"/>
            <a:ext cx="288036" cy="0"/>
          </a:xfrm>
          <a:prstGeom prst="line">
            <a:avLst/>
          </a:prstGeom>
          <a:noFill/>
          <a:ln w="22225">
            <a:solidFill>
              <a:srgbClr val="6B4FA0"/>
            </a:solidFill>
            <a:prstDash val="solid"/>
            <a:tailEnd type="triangle"/>
          </a:ln>
        </p:spPr>
      </p:sp>
      <p:sp>
        <p:nvSpPr>
          <p:cNvPr id="9" name="card_145"/>
          <p:cNvSpPr/>
          <p:nvPr/>
        </p:nvSpPr>
        <p:spPr>
          <a:xfrm>
            <a:off x="4311396" y="118872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6B4FA0">
              <a:alpha val="12000"/>
            </a:srgbClr>
          </a:solidFill>
          <a:ln w="12700">
            <a:solidFill>
              <a:srgbClr val="6B4FA0">
                <a:alpha val="60000"/>
              </a:srgbClr>
            </a:solidFill>
            <a:prstDash val="solid"/>
          </a:ln>
        </p:spPr>
      </p:sp>
      <p:sp>
        <p:nvSpPr>
          <p:cNvPr id="10" name="num_146"/>
          <p:cNvSpPr/>
          <p:nvPr/>
        </p:nvSpPr>
        <p:spPr>
          <a:xfrm>
            <a:off x="4494276" y="1371600"/>
            <a:ext cx="384048" cy="384048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label_147"/>
          <p:cNvSpPr txBox="1"/>
          <p:nvPr/>
        </p:nvSpPr>
        <p:spPr>
          <a:xfrm>
            <a:off x="4997196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4FA0"/>
                </a:solidFill>
              </a:rPr>
              <a:t>GROUND</a:t>
            </a:r>
            <a:endParaRPr lang="en-US" sz="1500" dirty="0"/>
          </a:p>
        </p:txBody>
      </p:sp>
      <p:sp>
        <p:nvSpPr>
          <p:cNvPr id="12" name="label_148"/>
          <p:cNvSpPr txBox="1"/>
          <p:nvPr/>
        </p:nvSpPr>
        <p:spPr>
          <a:xfrm>
            <a:off x="4997196" y="1591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Locate missed cubes</a:t>
            </a:r>
            <a:endParaRPr lang="en-US" sz="1100" dirty="0"/>
          </a:p>
        </p:txBody>
      </p:sp>
      <p:sp>
        <p:nvSpPr>
          <p:cNvPr id="13" name="text_149"/>
          <p:cNvSpPr txBox="1"/>
          <p:nvPr/>
        </p:nvSpPr>
        <p:spPr>
          <a:xfrm>
            <a:off x="4539996" y="2011680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Only for cubes the VLM found but YOLO did not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Image padded to a 1000×1000 square, so pixel and 0–1000 coordinates agree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Output: boxes [{colour, box}]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Box used only if its size, place and colour fit</a:t>
            </a:r>
            <a:endParaRPr lang="en-US" sz="1300" dirty="0"/>
          </a:p>
        </p:txBody>
      </p:sp>
      <p:sp>
        <p:nvSpPr>
          <p:cNvPr id="14" name="arrow_150"/>
          <p:cNvSpPr/>
          <p:nvPr/>
        </p:nvSpPr>
        <p:spPr>
          <a:xfrm>
            <a:off x="7877556" y="2720340"/>
            <a:ext cx="288036" cy="0"/>
          </a:xfrm>
          <a:prstGeom prst="line">
            <a:avLst/>
          </a:prstGeom>
          <a:noFill/>
          <a:ln w="22225">
            <a:solidFill>
              <a:srgbClr val="6B4FA0"/>
            </a:solidFill>
            <a:prstDash val="solid"/>
            <a:tailEnd type="triangle"/>
          </a:ln>
        </p:spPr>
      </p:sp>
      <p:sp>
        <p:nvSpPr>
          <p:cNvPr id="15" name="card_151"/>
          <p:cNvSpPr/>
          <p:nvPr/>
        </p:nvSpPr>
        <p:spPr>
          <a:xfrm>
            <a:off x="8165592" y="118872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6B4FA0">
              <a:alpha val="12000"/>
            </a:srgbClr>
          </a:solidFill>
          <a:ln w="12700">
            <a:solidFill>
              <a:srgbClr val="6B4FA0">
                <a:alpha val="60000"/>
              </a:srgbClr>
            </a:solidFill>
            <a:prstDash val="solid"/>
          </a:ln>
        </p:spPr>
      </p:sp>
      <p:sp>
        <p:nvSpPr>
          <p:cNvPr id="16" name="num_152"/>
          <p:cNvSpPr/>
          <p:nvPr/>
        </p:nvSpPr>
        <p:spPr>
          <a:xfrm>
            <a:off x="8348472" y="1371600"/>
            <a:ext cx="384048" cy="384048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label_153"/>
          <p:cNvSpPr txBox="1"/>
          <p:nvPr/>
        </p:nvSpPr>
        <p:spPr>
          <a:xfrm>
            <a:off x="8851392" y="1316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4FA0"/>
                </a:solidFill>
              </a:rPr>
              <a:t>PLAN + verify</a:t>
            </a:r>
            <a:endParaRPr lang="en-US" sz="1500" dirty="0"/>
          </a:p>
        </p:txBody>
      </p:sp>
      <p:sp>
        <p:nvSpPr>
          <p:cNvPr id="18" name="label_154"/>
          <p:cNvSpPr txBox="1"/>
          <p:nvPr/>
        </p:nvSpPr>
        <p:spPr>
          <a:xfrm>
            <a:off x="8851392" y="1591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Fix the stack</a:t>
            </a:r>
            <a:endParaRPr lang="en-US" sz="1100" dirty="0"/>
          </a:p>
        </p:txBody>
      </p:sp>
      <p:sp>
        <p:nvSpPr>
          <p:cNvPr id="19" name="text_155"/>
          <p:cNvSpPr txBox="1"/>
          <p:nvPr/>
        </p:nvSpPr>
        <p:spPr>
          <a:xfrm>
            <a:off x="8394192" y="2011680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Text only: accepted reading + goal + worked example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Output: status, problem, moves [{cube, to}]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Code replays every move: legal? goal reached? status matches the order check?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Re-asked up to 2× with the reason, else the code planner</a:t>
            </a:r>
            <a:endParaRPr lang="en-US" sz="1300" dirty="0"/>
          </a:p>
        </p:txBody>
      </p:sp>
      <p:sp>
        <p:nvSpPr>
          <p:cNvPr id="20" name="card_156"/>
          <p:cNvSpPr/>
          <p:nvPr/>
        </p:nvSpPr>
        <p:spPr>
          <a:xfrm>
            <a:off x="457200" y="4526280"/>
            <a:ext cx="11274552" cy="1371600"/>
          </a:xfrm>
          <a:prstGeom prst="roundRect">
            <a:avLst>
              <a:gd name="adj" fmla="val 6667"/>
            </a:avLst>
          </a:prstGeom>
          <a:solidFill>
            <a:srgbClr val="2E3A48">
              <a:alpha val="8000"/>
            </a:srgbClr>
          </a:solidFill>
          <a:ln w="12700">
            <a:solidFill>
              <a:srgbClr val="2E3A48">
                <a:alpha val="60000"/>
              </a:srgbClr>
            </a:solidFill>
            <a:prstDash val="solid"/>
          </a:ln>
        </p:spPr>
      </p:sp>
      <p:sp>
        <p:nvSpPr>
          <p:cNvPr id="21" name="label_157"/>
          <p:cNvSpPr txBox="1"/>
          <p:nvPr/>
        </p:nvSpPr>
        <p:spPr>
          <a:xfrm>
            <a:off x="685800" y="4645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Making a small local VLM reliable</a:t>
            </a:r>
            <a:endParaRPr lang="en-US" sz="1400" dirty="0"/>
          </a:p>
        </p:txBody>
      </p:sp>
      <p:sp>
        <p:nvSpPr>
          <p:cNvPr id="22" name="text_158"/>
          <p:cNvSpPr txBox="1"/>
          <p:nvPr/>
        </p:nvSpPr>
        <p:spPr>
          <a:xfrm>
            <a:off x="685800" y="5029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Ollama REST on localhost:11434, think = false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Answers forced into a JSON schema; JSON recovered from "thinking" if needed</a:t>
            </a:r>
            <a:endParaRPr lang="en-US" sz="1300" dirty="0"/>
          </a:p>
        </p:txBody>
      </p:sp>
      <p:sp>
        <p:nvSpPr>
          <p:cNvPr id="23" name="text_159"/>
          <p:cNvSpPr txBox="1"/>
          <p:nvPr/>
        </p:nvSpPr>
        <p:spPr>
          <a:xfrm>
            <a:off x="6309360" y="5029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Runs in the VLMWorker thread; every settle is queued in order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bad answer never blocks: code fallbacks always give steps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Final annotation: where each box comes from</a:t>
            </a:r>
            <a:endParaRPr lang="en-US" sz="3200" dirty="0"/>
          </a:p>
        </p:txBody>
      </p:sp>
      <p:sp>
        <p:nvSpPr>
          <p:cNvPr id="3" name="card_160"/>
          <p:cNvSpPr/>
          <p:nvPr/>
        </p:nvSpPr>
        <p:spPr>
          <a:xfrm>
            <a:off x="457200" y="128016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24708F">
              <a:alpha val="12000"/>
            </a:srgbClr>
          </a:solidFill>
          <a:ln w="12700">
            <a:solidFill>
              <a:srgbClr val="24708F">
                <a:alpha val="60000"/>
              </a:srgbClr>
            </a:solidFill>
            <a:prstDash val="solid"/>
          </a:ln>
        </p:spPr>
      </p:sp>
      <p:sp>
        <p:nvSpPr>
          <p:cNvPr id="4" name="num_161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label_162"/>
          <p:cNvSpPr txBox="1"/>
          <p:nvPr/>
        </p:nvSpPr>
        <p:spPr>
          <a:xfrm>
            <a:off x="1280160" y="13898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YOLO box</a:t>
            </a:r>
            <a:endParaRPr lang="en-US" sz="1500" dirty="0"/>
          </a:p>
        </p:txBody>
      </p:sp>
      <p:sp>
        <p:nvSpPr>
          <p:cNvPr id="6" name="label_163"/>
          <p:cNvSpPr txBox="1"/>
          <p:nvPr/>
        </p:nvSpPr>
        <p:spPr>
          <a:xfrm>
            <a:off x="1280160" y="1737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Detected box of that colour that fits the stack column best</a:t>
            </a:r>
            <a:endParaRPr lang="en-US" sz="1250" dirty="0"/>
          </a:p>
        </p:txBody>
      </p:sp>
      <p:sp>
        <p:nvSpPr>
          <p:cNvPr id="7" name="card_164"/>
          <p:cNvSpPr/>
          <p:nvPr/>
        </p:nvSpPr>
        <p:spPr>
          <a:xfrm>
            <a:off x="457200" y="246888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24708F">
              <a:alpha val="12000"/>
            </a:srgbClr>
          </a:solidFill>
          <a:ln w="12700">
            <a:solidFill>
              <a:srgbClr val="24708F">
                <a:alpha val="60000"/>
              </a:srgbClr>
            </a:solidFill>
            <a:prstDash val="solid"/>
          </a:ln>
        </p:spPr>
      </p:sp>
      <p:sp>
        <p:nvSpPr>
          <p:cNvPr id="8" name="num_165"/>
          <p:cNvSpPr/>
          <p:nvPr/>
        </p:nvSpPr>
        <p:spPr>
          <a:xfrm>
            <a:off x="640080" y="2761488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label_166"/>
          <p:cNvSpPr txBox="1"/>
          <p:nvPr/>
        </p:nvSpPr>
        <p:spPr>
          <a:xfrm>
            <a:off x="1280160" y="25786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VLM box</a:t>
            </a:r>
            <a:endParaRPr lang="en-US" sz="1500" dirty="0"/>
          </a:p>
        </p:txBody>
      </p:sp>
      <p:sp>
        <p:nvSpPr>
          <p:cNvPr id="10" name="label_167"/>
          <p:cNvSpPr txBox="1"/>
          <p:nvPr/>
        </p:nvSpPr>
        <p:spPr>
          <a:xfrm>
            <a:off x="1280160" y="2926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GROUND box, if its size, position and colour check out (white: size + position only)</a:t>
            </a:r>
            <a:endParaRPr lang="en-US" sz="1250" dirty="0"/>
          </a:p>
        </p:txBody>
      </p:sp>
      <p:sp>
        <p:nvSpPr>
          <p:cNvPr id="11" name="card_168"/>
          <p:cNvSpPr/>
          <p:nvPr/>
        </p:nvSpPr>
        <p:spPr>
          <a:xfrm>
            <a:off x="457200" y="365760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24708F">
              <a:alpha val="12000"/>
            </a:srgbClr>
          </a:solidFill>
          <a:ln w="12700">
            <a:solidFill>
              <a:srgbClr val="24708F">
                <a:alpha val="60000"/>
              </a:srgbClr>
            </a:solidFill>
            <a:prstDash val="solid"/>
          </a:ln>
        </p:spPr>
      </p:sp>
      <p:sp>
        <p:nvSpPr>
          <p:cNvPr id="12" name="num_169"/>
          <p:cNvSpPr/>
          <p:nvPr/>
        </p:nvSpPr>
        <p:spPr>
          <a:xfrm>
            <a:off x="640080" y="3950208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label_170"/>
          <p:cNvSpPr txBox="1"/>
          <p:nvPr/>
        </p:nvSpPr>
        <p:spPr>
          <a:xfrm>
            <a:off x="1280160" y="37673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Colour fit</a:t>
            </a:r>
            <a:endParaRPr lang="en-US" sz="1500" dirty="0"/>
          </a:p>
        </p:txBody>
      </p:sp>
      <p:sp>
        <p:nvSpPr>
          <p:cNvPr id="14" name="label_171"/>
          <p:cNvSpPr txBox="1"/>
          <p:nvPr/>
        </p:nvSpPr>
        <p:spPr>
          <a:xfrm>
            <a:off x="1280160" y="4114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Cube-sized blob of that colour where the cube must be</a:t>
            </a:r>
            <a:endParaRPr lang="en-US" sz="1250" dirty="0"/>
          </a:p>
        </p:txBody>
      </p:sp>
      <p:sp>
        <p:nvSpPr>
          <p:cNvPr id="15" name="card_172"/>
          <p:cNvSpPr/>
          <p:nvPr/>
        </p:nvSpPr>
        <p:spPr>
          <a:xfrm>
            <a:off x="457200" y="484632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24708F">
              <a:alpha val="12000"/>
            </a:srgbClr>
          </a:solidFill>
          <a:ln w="12700">
            <a:solidFill>
              <a:srgbClr val="24708F">
                <a:alpha val="60000"/>
              </a:srgbClr>
            </a:solidFill>
            <a:prstDash val="solid"/>
          </a:ln>
        </p:spPr>
      </p:sp>
      <p:sp>
        <p:nvSpPr>
          <p:cNvPr id="16" name="num_173"/>
          <p:cNvSpPr/>
          <p:nvPr/>
        </p:nvSpPr>
        <p:spPr>
          <a:xfrm>
            <a:off x="640080" y="5138928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label_174"/>
          <p:cNvSpPr txBox="1"/>
          <p:nvPr/>
        </p:nvSpPr>
        <p:spPr>
          <a:xfrm>
            <a:off x="1280160" y="495604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Estimate</a:t>
            </a:r>
            <a:endParaRPr lang="en-US" sz="1500" dirty="0"/>
          </a:p>
        </p:txBody>
      </p:sp>
      <p:sp>
        <p:nvSpPr>
          <p:cNvPr id="18" name="label_175"/>
          <p:cNvSpPr txBox="1"/>
          <p:nvPr/>
        </p:nvSpPr>
        <p:spPr>
          <a:xfrm>
            <a:off x="1280160" y="5303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One cube-step above / below the neighbour, step measured from the stack</a:t>
            </a:r>
            <a:endParaRPr lang="en-US" sz="1250" dirty="0"/>
          </a:p>
        </p:txBody>
      </p:sp>
      <p:sp>
        <p:nvSpPr>
          <p:cNvPr id="19" name="label_176"/>
          <p:cNvSpPr txBox="1"/>
          <p:nvPr/>
        </p:nvSpPr>
        <p:spPr>
          <a:xfrm>
            <a:off x="457200" y="6053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E7B8C"/>
                </a:solidFill>
              </a:rPr>
              <a:t>Used in order: the first that works wins.</a:t>
            </a:r>
            <a:endParaRPr lang="en-US" sz="1100" dirty="0"/>
          </a:p>
        </p:txBody>
      </p:sp>
      <p:sp>
        <p:nvSpPr>
          <p:cNvPr id="20" name="card_177"/>
          <p:cNvSpPr/>
          <p:nvPr/>
        </p:nvSpPr>
        <p:spPr>
          <a:xfrm>
            <a:off x="7315200" y="1280160"/>
            <a:ext cx="4416552" cy="4754880"/>
          </a:xfrm>
          <a:prstGeom prst="roundRect">
            <a:avLst>
              <a:gd name="adj" fmla="val 2070"/>
            </a:avLst>
          </a:prstGeom>
          <a:solidFill>
            <a:srgbClr val="2E3A48">
              <a:alpha val="6000"/>
            </a:srgbClr>
          </a:solidFill>
          <a:ln w="12700">
            <a:solidFill>
              <a:srgbClr val="2E3A48">
                <a:alpha val="60000"/>
              </a:srgbClr>
            </a:solidFill>
            <a:prstDash val="solid"/>
          </a:ln>
        </p:spPr>
      </p:sp>
      <p:sp>
        <p:nvSpPr>
          <p:cNvPr id="21" name="label_178"/>
          <p:cNvSpPr txBox="1"/>
          <p:nvPr/>
        </p:nvSpPr>
        <p:spPr>
          <a:xfrm>
            <a:off x="754380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boxes are drawn</a:t>
            </a:r>
            <a:endParaRPr lang="en-US" sz="1500" dirty="0"/>
          </a:p>
        </p:txBody>
      </p:sp>
      <p:sp>
        <p:nvSpPr>
          <p:cNvPr id="22" name="legend_box_179"/>
          <p:cNvSpPr/>
          <p:nvPr/>
        </p:nvSpPr>
        <p:spPr>
          <a:xfrm>
            <a:off x="7589520" y="1965960"/>
            <a:ext cx="777240" cy="731520"/>
          </a:xfrm>
          <a:prstGeom prst="rect">
            <a:avLst/>
          </a:prstGeom>
          <a:solidFill>
            <a:srgbClr val="FFFFFF"/>
          </a:solidFill>
          <a:ln w="28575">
            <a:solidFill>
              <a:srgbClr val="7DBB45"/>
            </a:solidFill>
            <a:prstDash val="solid"/>
          </a:ln>
        </p:spPr>
      </p:sp>
      <p:sp>
        <p:nvSpPr>
          <p:cNvPr id="23" name="label_180"/>
          <p:cNvSpPr txBox="1"/>
          <p:nvPr/>
        </p:nvSpPr>
        <p:spPr>
          <a:xfrm>
            <a:off x="8549640" y="2011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S1-2 green</a:t>
            </a:r>
            <a:endParaRPr lang="en-US" sz="1250" dirty="0"/>
          </a:p>
        </p:txBody>
      </p:sp>
      <p:sp>
        <p:nvSpPr>
          <p:cNvPr id="24" name="label_181"/>
          <p:cNvSpPr txBox="1"/>
          <p:nvPr/>
        </p:nvSpPr>
        <p:spPr>
          <a:xfrm>
            <a:off x="8549640" y="2331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C"/>
                </a:solidFill>
              </a:rPr>
              <a:t>YOLO detection</a:t>
            </a:r>
            <a:endParaRPr lang="en-US" sz="1150" dirty="0"/>
          </a:p>
        </p:txBody>
      </p:sp>
      <p:sp>
        <p:nvSpPr>
          <p:cNvPr id="25" name="legend_box_182"/>
          <p:cNvSpPr/>
          <p:nvPr/>
        </p:nvSpPr>
        <p:spPr>
          <a:xfrm>
            <a:off x="7589520" y="3017520"/>
            <a:ext cx="777240" cy="731520"/>
          </a:xfrm>
          <a:prstGeom prst="rect">
            <a:avLst/>
          </a:prstGeom>
          <a:solidFill>
            <a:srgbClr val="FFFFFF"/>
          </a:solidFill>
          <a:ln w="28575">
            <a:solidFill>
              <a:srgbClr val="D33A32"/>
            </a:solidFill>
            <a:prstDash val="dash"/>
          </a:ln>
        </p:spPr>
      </p:sp>
      <p:sp>
        <p:nvSpPr>
          <p:cNvPr id="26" name="label_183"/>
          <p:cNvSpPr txBox="1"/>
          <p:nvPr/>
        </p:nvSpPr>
        <p:spPr>
          <a:xfrm>
            <a:off x="8549640" y="3063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S1-1 red (geometric reasoning)</a:t>
            </a:r>
            <a:endParaRPr lang="en-US" sz="1250" dirty="0"/>
          </a:p>
        </p:txBody>
      </p:sp>
      <p:sp>
        <p:nvSpPr>
          <p:cNvPr id="27" name="label_184"/>
          <p:cNvSpPr txBox="1"/>
          <p:nvPr/>
        </p:nvSpPr>
        <p:spPr>
          <a:xfrm>
            <a:off x="8549640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C"/>
                </a:solidFill>
              </a:rPr>
              <a:t>hidden-cube probe</a:t>
            </a:r>
            <a:endParaRPr lang="en-US" sz="1150" dirty="0"/>
          </a:p>
        </p:txBody>
      </p:sp>
      <p:sp>
        <p:nvSpPr>
          <p:cNvPr id="28" name="legend_box_185"/>
          <p:cNvSpPr/>
          <p:nvPr/>
        </p:nvSpPr>
        <p:spPr>
          <a:xfrm>
            <a:off x="7589520" y="4069080"/>
            <a:ext cx="777240" cy="731520"/>
          </a:xfrm>
          <a:prstGeom prst="rect">
            <a:avLst/>
          </a:prstGeom>
          <a:solidFill>
            <a:srgbClr val="FFFFFF"/>
          </a:solidFill>
          <a:ln w="28575">
            <a:solidFill>
              <a:srgbClr val="444444"/>
            </a:solidFill>
            <a:prstDash val="dash"/>
          </a:ln>
        </p:spPr>
      </p:sp>
      <p:sp>
        <p:nvSpPr>
          <p:cNvPr id="29" name="label_186"/>
          <p:cNvSpPr txBox="1"/>
          <p:nvPr/>
        </p:nvSpPr>
        <p:spPr>
          <a:xfrm>
            <a:off x="8549640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S1-4 white (VLM)</a:t>
            </a:r>
            <a:endParaRPr lang="en-US" sz="1250" dirty="0"/>
          </a:p>
        </p:txBody>
      </p:sp>
      <p:sp>
        <p:nvSpPr>
          <p:cNvPr id="30" name="label_187"/>
          <p:cNvSpPr txBox="1"/>
          <p:nvPr/>
        </p:nvSpPr>
        <p:spPr>
          <a:xfrm>
            <a:off x="8549640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C"/>
                </a:solidFill>
              </a:rPr>
              <a:t>found only by the VLM</a:t>
            </a:r>
            <a:endParaRPr lang="en-US" sz="1150" dirty="0"/>
          </a:p>
        </p:txBody>
      </p:sp>
      <p:sp>
        <p:nvSpPr>
          <p:cNvPr id="31" name="label_188"/>
          <p:cNvSpPr txBox="1"/>
          <p:nvPr/>
        </p:nvSpPr>
        <p:spPr>
          <a:xfrm>
            <a:off x="7543800" y="51206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YOLO boxes the VLM rejected (e.g. a laptop corner) are not drawn; they are listed in result.json as ignored_detections.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Outputs for every settle</a:t>
            </a:r>
            <a:endParaRPr lang="en-US" sz="3200" dirty="0"/>
          </a:p>
        </p:txBody>
      </p:sp>
      <p:sp>
        <p:nvSpPr>
          <p:cNvPr id="3" name="card_189"/>
          <p:cNvSpPr/>
          <p:nvPr/>
        </p:nvSpPr>
        <p:spPr>
          <a:xfrm>
            <a:off x="457200" y="1234440"/>
            <a:ext cx="4937760" cy="4846320"/>
          </a:xfrm>
          <a:prstGeom prst="roundRect">
            <a:avLst>
              <a:gd name="adj" fmla="val 1887"/>
            </a:avLst>
          </a:prstGeom>
          <a:solidFill>
            <a:srgbClr val="2E3A48">
              <a:alpha val="8000"/>
            </a:srgbClr>
          </a:solidFill>
          <a:ln w="12700">
            <a:solidFill>
              <a:srgbClr val="2E3A48">
                <a:alpha val="60000"/>
              </a:srgbClr>
            </a:solidFill>
            <a:prstDash val="solid"/>
          </a:ln>
        </p:spPr>
      </p:sp>
      <p:sp>
        <p:nvSpPr>
          <p:cNvPr id="4" name="label_190"/>
          <p:cNvSpPr txBox="1"/>
          <p:nvPr/>
        </p:nvSpPr>
        <p:spPr>
          <a:xfrm>
            <a:off x="685800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result/</a:t>
            </a:r>
            <a:endParaRPr lang="en-US" sz="1500" dirty="0"/>
          </a:p>
        </p:txBody>
      </p:sp>
      <p:sp>
        <p:nvSpPr>
          <p:cNvPr id="5" name="tree_191"/>
          <p:cNvSpPr txBox="1"/>
          <p:nvPr/>
        </p:nvSpPr>
        <p:spPr>
          <a:xfrm>
            <a:off x="685800" y="182880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goal/goal_&lt;time&gt;/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goal_raw.jpg, goal_annotated.jpg, goal.json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settles/settle_&lt;time&gt;/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1_raw.jpg            clean frame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2_yolo_only.jpg      plain YOLO boxes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3_yolo_geometric.jpg + geometric reasoning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4_final_vlm.jpg      final reading + panel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result.json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stack_log_vlm_&lt;session&gt;.txt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snapshot_&lt;time&gt;.jpg / _stack.txt  (s key)</a:t>
            </a:r>
            <a:endParaRPr lang="en-US" sz="1200" dirty="0"/>
          </a:p>
        </p:txBody>
      </p:sp>
      <p:sp>
        <p:nvSpPr>
          <p:cNvPr id="6" name="card_192"/>
          <p:cNvSpPr/>
          <p:nvPr/>
        </p:nvSpPr>
        <p:spPr>
          <a:xfrm>
            <a:off x="5760720" y="123444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6E7B8C">
              <a:alpha val="10000"/>
            </a:srgbClr>
          </a:solidFill>
          <a:ln w="12700">
            <a:solidFill>
              <a:srgbClr val="6E7B8C">
                <a:alpha val="60000"/>
              </a:srgbClr>
            </a:solidFill>
            <a:prstDash val="solid"/>
          </a:ln>
        </p:spPr>
      </p:sp>
      <p:sp>
        <p:nvSpPr>
          <p:cNvPr id="7" name="label_193"/>
          <p:cNvSpPr txBox="1"/>
          <p:nvPr/>
        </p:nvSpPr>
        <p:spPr>
          <a:xfrm>
            <a:off x="594360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B8C"/>
                </a:solidFill>
              </a:rPr>
              <a:t>goal</a:t>
            </a:r>
            <a:endParaRPr lang="en-US" sz="1500" dirty="0"/>
          </a:p>
        </p:txBody>
      </p:sp>
      <p:sp>
        <p:nvSpPr>
          <p:cNvPr id="8" name="label_194"/>
          <p:cNvSpPr txBox="1"/>
          <p:nvPr/>
        </p:nvSpPr>
        <p:spPr>
          <a:xfrm>
            <a:off x="594360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order bottom → top + source</a:t>
            </a:r>
            <a:endParaRPr lang="en-US" sz="1250" dirty="0"/>
          </a:p>
        </p:txBody>
      </p:sp>
      <p:sp>
        <p:nvSpPr>
          <p:cNvPr id="9" name="card_195"/>
          <p:cNvSpPr/>
          <p:nvPr/>
        </p:nvSpPr>
        <p:spPr>
          <a:xfrm>
            <a:off x="8778240" y="123444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6E7B8C">
              <a:alpha val="10000"/>
            </a:srgbClr>
          </a:solidFill>
          <a:ln w="12700">
            <a:solidFill>
              <a:srgbClr val="6E7B8C">
                <a:alpha val="60000"/>
              </a:srgbClr>
            </a:solidFill>
            <a:prstDash val="solid"/>
          </a:ln>
        </p:spPr>
      </p:sp>
      <p:sp>
        <p:nvSpPr>
          <p:cNvPr id="10" name="label_196"/>
          <p:cNvSpPr txBox="1"/>
          <p:nvPr/>
        </p:nvSpPr>
        <p:spPr>
          <a:xfrm>
            <a:off x="896112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B8C"/>
                </a:solidFill>
              </a:rPr>
              <a:t>yolo_only</a:t>
            </a:r>
            <a:endParaRPr lang="en-US" sz="1500" dirty="0"/>
          </a:p>
        </p:txBody>
      </p:sp>
      <p:sp>
        <p:nvSpPr>
          <p:cNvPr id="11" name="label_197"/>
          <p:cNvSpPr txBox="1"/>
          <p:nvPr/>
        </p:nvSpPr>
        <p:spPr>
          <a:xfrm>
            <a:off x="896112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raw YOLO boxes, bottom → top</a:t>
            </a:r>
            <a:endParaRPr lang="en-US" sz="1250" dirty="0"/>
          </a:p>
        </p:txBody>
      </p:sp>
      <p:sp>
        <p:nvSpPr>
          <p:cNvPr id="12" name="card_198"/>
          <p:cNvSpPr/>
          <p:nvPr/>
        </p:nvSpPr>
        <p:spPr>
          <a:xfrm>
            <a:off x="5760720" y="288036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6E7B8C">
              <a:alpha val="10000"/>
            </a:srgbClr>
          </a:solidFill>
          <a:ln w="12700">
            <a:solidFill>
              <a:srgbClr val="6E7B8C">
                <a:alpha val="60000"/>
              </a:srgbClr>
            </a:solidFill>
            <a:prstDash val="solid"/>
          </a:ln>
        </p:spPr>
      </p:sp>
      <p:sp>
        <p:nvSpPr>
          <p:cNvPr id="13" name="label_199"/>
          <p:cNvSpPr txBox="1"/>
          <p:nvPr/>
        </p:nvSpPr>
        <p:spPr>
          <a:xfrm>
            <a:off x="594360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B8C"/>
                </a:solidFill>
              </a:rPr>
              <a:t>detector</a:t>
            </a:r>
            <a:endParaRPr lang="en-US" sz="1500" dirty="0"/>
          </a:p>
        </p:txBody>
      </p:sp>
      <p:sp>
        <p:nvSpPr>
          <p:cNvPr id="14" name="label_200"/>
          <p:cNvSpPr txBox="1"/>
          <p:nvPr/>
        </p:nvSpPr>
        <p:spPr>
          <a:xfrm>
            <a:off x="5943600" y="3429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YOLO + geometry: stacks, verdict, per-cube source</a:t>
            </a:r>
            <a:endParaRPr lang="en-US" sz="1250" dirty="0"/>
          </a:p>
        </p:txBody>
      </p:sp>
      <p:sp>
        <p:nvSpPr>
          <p:cNvPr id="15" name="card_201"/>
          <p:cNvSpPr/>
          <p:nvPr/>
        </p:nvSpPr>
        <p:spPr>
          <a:xfrm>
            <a:off x="8778240" y="288036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6E7B8C">
              <a:alpha val="10000"/>
            </a:srgbClr>
          </a:solidFill>
          <a:ln w="12700">
            <a:solidFill>
              <a:srgbClr val="6E7B8C">
                <a:alpha val="60000"/>
              </a:srgbClr>
            </a:solidFill>
            <a:prstDash val="solid"/>
          </a:ln>
        </p:spPr>
      </p:sp>
      <p:sp>
        <p:nvSpPr>
          <p:cNvPr id="16" name="label_202"/>
          <p:cNvSpPr txBox="1"/>
          <p:nvPr/>
        </p:nvSpPr>
        <p:spPr>
          <a:xfrm>
            <a:off x="896112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B8C"/>
                </a:solidFill>
              </a:rPr>
              <a:t>vlm</a:t>
            </a:r>
            <a:endParaRPr lang="en-US" sz="1500" dirty="0"/>
          </a:p>
        </p:txBody>
      </p:sp>
      <p:sp>
        <p:nvSpPr>
          <p:cNvPr id="17" name="label_203"/>
          <p:cNvSpPr txBox="1"/>
          <p:nvPr/>
        </p:nvSpPr>
        <p:spPr>
          <a:xfrm>
            <a:off x="8961120" y="3429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called? trigger, reading, raw replies, boxes</a:t>
            </a:r>
            <a:endParaRPr lang="en-US" sz="1250" dirty="0"/>
          </a:p>
        </p:txBody>
      </p:sp>
      <p:sp>
        <p:nvSpPr>
          <p:cNvPr id="18" name="card_204"/>
          <p:cNvSpPr/>
          <p:nvPr/>
        </p:nvSpPr>
        <p:spPr>
          <a:xfrm>
            <a:off x="5760720" y="452628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6E7B8C">
              <a:alpha val="10000"/>
            </a:srgbClr>
          </a:solidFill>
          <a:ln w="12700">
            <a:solidFill>
              <a:srgbClr val="6E7B8C">
                <a:alpha val="60000"/>
              </a:srgbClr>
            </a:solidFill>
            <a:prstDash val="solid"/>
          </a:ln>
        </p:spPr>
      </p:sp>
      <p:sp>
        <p:nvSpPr>
          <p:cNvPr id="19" name="label_205"/>
          <p:cNvSpPr txBox="1"/>
          <p:nvPr/>
        </p:nvSpPr>
        <p:spPr>
          <a:xfrm>
            <a:off x="594360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B8C"/>
                </a:solidFill>
              </a:rPr>
              <a:t>comparison</a:t>
            </a:r>
            <a:endParaRPr lang="en-US" sz="1500" dirty="0"/>
          </a:p>
        </p:txBody>
      </p:sp>
      <p:sp>
        <p:nvSpPr>
          <p:cNvPr id="20" name="label_206"/>
          <p:cNvSpPr txBox="1"/>
          <p:nvPr/>
        </p:nvSpPr>
        <p:spPr>
          <a:xfrm>
            <a:off x="5943600" y="5074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missed by YOLO / by VLM, placed differently</a:t>
            </a:r>
            <a:endParaRPr lang="en-US" sz="1250" dirty="0"/>
          </a:p>
        </p:txBody>
      </p:sp>
      <p:sp>
        <p:nvSpPr>
          <p:cNvPr id="21" name="card_207"/>
          <p:cNvSpPr/>
          <p:nvPr/>
        </p:nvSpPr>
        <p:spPr>
          <a:xfrm>
            <a:off x="8778240" y="452628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6E7B8C">
              <a:alpha val="10000"/>
            </a:srgbClr>
          </a:solidFill>
          <a:ln w="12700">
            <a:solidFill>
              <a:srgbClr val="6E7B8C">
                <a:alpha val="60000"/>
              </a:srgbClr>
            </a:solidFill>
            <a:prstDash val="solid"/>
          </a:ln>
        </p:spPr>
      </p:sp>
      <p:sp>
        <p:nvSpPr>
          <p:cNvPr id="22" name="label_208"/>
          <p:cNvSpPr txBox="1"/>
          <p:nvPr/>
        </p:nvSpPr>
        <p:spPr>
          <a:xfrm>
            <a:off x="896112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B8C"/>
                </a:solidFill>
              </a:rPr>
              <a:t>final</a:t>
            </a:r>
            <a:endParaRPr lang="en-US" sz="1500" dirty="0"/>
          </a:p>
        </p:txBody>
      </p:sp>
      <p:sp>
        <p:nvSpPr>
          <p:cNvPr id="23" name="label_209"/>
          <p:cNvSpPr txBox="1"/>
          <p:nvPr/>
        </p:nvSpPr>
        <p:spPr>
          <a:xfrm>
            <a:off x="8961120" y="5074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reading, status, instructions, moves, boxes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Runtime: two threads, nothing blocks the camera</a:t>
            </a:r>
            <a:endParaRPr lang="en-US" sz="3200" dirty="0"/>
          </a:p>
        </p:txBody>
      </p:sp>
      <p:sp>
        <p:nvSpPr>
          <p:cNvPr id="3" name="card_210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2E3A48">
              <a:alpha val="7000"/>
            </a:srgbClr>
          </a:solidFill>
          <a:ln w="12700">
            <a:solidFill>
              <a:srgbClr val="2E3A48">
                <a:alpha val="60000"/>
              </a:srgbClr>
            </a:solidFill>
            <a:prstDash val="solid"/>
          </a:ln>
        </p:spPr>
      </p:sp>
      <p:sp>
        <p:nvSpPr>
          <p:cNvPr id="4" name="label_211"/>
          <p:cNvSpPr txBox="1"/>
          <p:nvPr/>
        </p:nvSpPr>
        <p:spPr>
          <a:xfrm>
            <a:off x="594360" y="1234440"/>
            <a:ext cx="1234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3A48"/>
                </a:solidFill>
              </a:rPr>
              <a:t>Main thread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E3A48"/>
                </a:solidFill>
              </a:rPr>
              <a:t>(camera loop)</a:t>
            </a:r>
            <a:endParaRPr lang="en-US" sz="1300" dirty="0"/>
          </a:p>
        </p:txBody>
      </p:sp>
      <p:sp>
        <p:nvSpPr>
          <p:cNvPr id="5" name="card_212"/>
          <p:cNvSpPr/>
          <p:nvPr/>
        </p:nvSpPr>
        <p:spPr>
          <a:xfrm>
            <a:off x="457200" y="342900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6B4FA0">
              <a:alpha val="7000"/>
            </a:srgbClr>
          </a:solidFill>
          <a:ln w="12700">
            <a:solidFill>
              <a:srgbClr val="6B4FA0">
                <a:alpha val="60000"/>
              </a:srgbClr>
            </a:solidFill>
            <a:prstDash val="solid"/>
          </a:ln>
        </p:spPr>
      </p:sp>
      <p:sp>
        <p:nvSpPr>
          <p:cNvPr id="6" name="label_213"/>
          <p:cNvSpPr txBox="1"/>
          <p:nvPr/>
        </p:nvSpPr>
        <p:spPr>
          <a:xfrm>
            <a:off x="594360" y="3429000"/>
            <a:ext cx="1234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4FA0"/>
                </a:solidFill>
              </a:rPr>
              <a:t>VLM worker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6B4FA0"/>
                </a:solidFill>
              </a:rPr>
              <a:t>thread</a:t>
            </a:r>
            <a:endParaRPr lang="en-US" sz="1300" dirty="0"/>
          </a:p>
        </p:txBody>
      </p:sp>
      <p:sp>
        <p:nvSpPr>
          <p:cNvPr id="7" name="box_214"/>
          <p:cNvSpPr/>
          <p:nvPr/>
        </p:nvSpPr>
        <p:spPr>
          <a:xfrm>
            <a:off x="1920240" y="169164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 frame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OAK-D, newest only</a:t>
            </a:r>
            <a:endParaRPr lang="en-US" sz="1300" dirty="0"/>
          </a:p>
        </p:txBody>
      </p:sp>
      <p:sp>
        <p:nvSpPr>
          <p:cNvPr id="8" name="arrow_215"/>
          <p:cNvSpPr/>
          <p:nvPr/>
        </p:nvSpPr>
        <p:spPr>
          <a:xfrm>
            <a:off x="3383280" y="2194560"/>
            <a:ext cx="182880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9" name="box_216"/>
          <p:cNvSpPr/>
          <p:nvPr/>
        </p:nvSpPr>
        <p:spPr>
          <a:xfrm>
            <a:off x="3566160" y="169164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Motion gate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state machine</a:t>
            </a:r>
            <a:endParaRPr lang="en-US" sz="1300" dirty="0"/>
          </a:p>
        </p:txBody>
      </p:sp>
      <p:sp>
        <p:nvSpPr>
          <p:cNvPr id="10" name="arrow_217"/>
          <p:cNvSpPr/>
          <p:nvPr/>
        </p:nvSpPr>
        <p:spPr>
          <a:xfrm>
            <a:off x="5029200" y="2194560"/>
            <a:ext cx="182880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11" name="box_218"/>
          <p:cNvSpPr/>
          <p:nvPr/>
        </p:nvSpPr>
        <p:spPr>
          <a:xfrm>
            <a:off x="5212080" y="169164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YOLO + geometry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on settle</a:t>
            </a:r>
            <a:endParaRPr lang="en-US" sz="1300" dirty="0"/>
          </a:p>
        </p:txBody>
      </p:sp>
      <p:sp>
        <p:nvSpPr>
          <p:cNvPr id="12" name="arrow_219"/>
          <p:cNvSpPr/>
          <p:nvPr/>
        </p:nvSpPr>
        <p:spPr>
          <a:xfrm>
            <a:off x="6675120" y="2194560"/>
            <a:ext cx="182880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13" name="box_220"/>
          <p:cNvSpPr/>
          <p:nvPr/>
        </p:nvSpPr>
        <p:spPr>
          <a:xfrm>
            <a:off x="6858000" y="169164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Save images 1-3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settle folder</a:t>
            </a:r>
            <a:endParaRPr lang="en-US" sz="1300" dirty="0"/>
          </a:p>
        </p:txBody>
      </p:sp>
      <p:sp>
        <p:nvSpPr>
          <p:cNvPr id="14" name="arrow_221"/>
          <p:cNvSpPr/>
          <p:nvPr/>
        </p:nvSpPr>
        <p:spPr>
          <a:xfrm>
            <a:off x="8321040" y="2194560"/>
            <a:ext cx="182880" cy="0"/>
          </a:xfrm>
          <a:prstGeom prst="line">
            <a:avLst/>
          </a:prstGeom>
          <a:noFill/>
          <a:ln w="22225">
            <a:solidFill>
              <a:srgbClr val="2E3A48"/>
            </a:solidFill>
            <a:prstDash val="solid"/>
            <a:tailEnd type="triangle"/>
          </a:ln>
        </p:spPr>
      </p:sp>
      <p:sp>
        <p:nvSpPr>
          <p:cNvPr id="15" name="box_222"/>
          <p:cNvSpPr/>
          <p:nvPr/>
        </p:nvSpPr>
        <p:spPr>
          <a:xfrm>
            <a:off x="8503920" y="169164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Anomaly?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vs goal</a:t>
            </a:r>
            <a:endParaRPr lang="en-US" sz="1300" dirty="0"/>
          </a:p>
        </p:txBody>
      </p:sp>
      <p:sp>
        <p:nvSpPr>
          <p:cNvPr id="16" name="arrow_223"/>
          <p:cNvSpPr/>
          <p:nvPr/>
        </p:nvSpPr>
        <p:spPr>
          <a:xfrm>
            <a:off x="9966960" y="2194560"/>
            <a:ext cx="182880" cy="0"/>
          </a:xfrm>
          <a:prstGeom prst="line">
            <a:avLst/>
          </a:prstGeom>
          <a:noFill/>
          <a:ln w="22225">
            <a:solidFill>
              <a:srgbClr val="3E8E5E"/>
            </a:solidFill>
            <a:prstDash val="solid"/>
            <a:tailEnd type="triangle"/>
          </a:ln>
        </p:spPr>
      </p:sp>
      <p:sp>
        <p:nvSpPr>
          <p:cNvPr id="17" name="box_224"/>
          <p:cNvSpPr/>
          <p:nvPr/>
        </p:nvSpPr>
        <p:spPr>
          <a:xfrm>
            <a:off x="10149840" y="169164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Code result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image 4 + JSON</a:t>
            </a:r>
            <a:endParaRPr lang="en-US" sz="1300" dirty="0"/>
          </a:p>
        </p:txBody>
      </p:sp>
      <p:sp>
        <p:nvSpPr>
          <p:cNvPr id="18" name="label_225"/>
          <p:cNvSpPr txBox="1"/>
          <p:nvPr/>
        </p:nvSpPr>
        <p:spPr>
          <a:xfrm>
            <a:off x="9976104" y="17830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8E5E"/>
                </a:solidFill>
              </a:rPr>
              <a:t>no</a:t>
            </a:r>
            <a:endParaRPr lang="en-US" sz="1000" dirty="0"/>
          </a:p>
        </p:txBody>
      </p:sp>
      <p:sp>
        <p:nvSpPr>
          <p:cNvPr id="19" name="arrow_226"/>
          <p:cNvSpPr/>
          <p:nvPr/>
        </p:nvSpPr>
        <p:spPr>
          <a:xfrm>
            <a:off x="9235440" y="2697480"/>
            <a:ext cx="0" cy="612648"/>
          </a:xfrm>
          <a:prstGeom prst="line">
            <a:avLst/>
          </a:prstGeom>
          <a:noFill/>
          <a:ln w="22225">
            <a:solidFill>
              <a:srgbClr val="C0453F"/>
            </a:solidFill>
            <a:prstDash val="solid"/>
          </a:ln>
        </p:spPr>
      </p:sp>
      <p:sp>
        <p:nvSpPr>
          <p:cNvPr id="20" name="arrow_227"/>
          <p:cNvSpPr/>
          <p:nvPr/>
        </p:nvSpPr>
        <p:spPr>
          <a:xfrm flipH="1">
            <a:off x="4297680" y="3310128"/>
            <a:ext cx="4937760" cy="0"/>
          </a:xfrm>
          <a:prstGeom prst="line">
            <a:avLst/>
          </a:prstGeom>
          <a:noFill/>
          <a:ln w="22225">
            <a:solidFill>
              <a:srgbClr val="C0453F"/>
            </a:solidFill>
            <a:prstDash val="solid"/>
          </a:ln>
        </p:spPr>
      </p:sp>
      <p:sp>
        <p:nvSpPr>
          <p:cNvPr id="21" name="arrow_228"/>
          <p:cNvSpPr/>
          <p:nvPr/>
        </p:nvSpPr>
        <p:spPr>
          <a:xfrm>
            <a:off x="4297680" y="3310128"/>
            <a:ext cx="0" cy="621792"/>
          </a:xfrm>
          <a:prstGeom prst="line">
            <a:avLst/>
          </a:prstGeom>
          <a:noFill/>
          <a:ln w="22225">
            <a:solidFill>
              <a:srgbClr val="C0453F"/>
            </a:solidFill>
            <a:prstDash val="solid"/>
            <a:tailEnd type="triangle"/>
          </a:ln>
        </p:spPr>
      </p:sp>
      <p:sp>
        <p:nvSpPr>
          <p:cNvPr id="22" name="label_229"/>
          <p:cNvSpPr txBox="1"/>
          <p:nvPr/>
        </p:nvSpPr>
        <p:spPr>
          <a:xfrm>
            <a:off x="9326880" y="27614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453F"/>
                </a:solidFill>
              </a:rPr>
              <a:t>yes: job queued (every settle, in order)</a:t>
            </a:r>
            <a:endParaRPr lang="en-US" sz="1050" dirty="0"/>
          </a:p>
        </p:txBody>
      </p:sp>
      <p:sp>
        <p:nvSpPr>
          <p:cNvPr id="23" name="box_230"/>
          <p:cNvSpPr/>
          <p:nvPr/>
        </p:nvSpPr>
        <p:spPr>
          <a:xfrm>
            <a:off x="3566160" y="393192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Take next job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queue</a:t>
            </a:r>
            <a:endParaRPr lang="en-US" sz="1300" dirty="0"/>
          </a:p>
        </p:txBody>
      </p:sp>
      <p:sp>
        <p:nvSpPr>
          <p:cNvPr id="24" name="arrow_231"/>
          <p:cNvSpPr/>
          <p:nvPr/>
        </p:nvSpPr>
        <p:spPr>
          <a:xfrm>
            <a:off x="5029200" y="4434840"/>
            <a:ext cx="182880" cy="0"/>
          </a:xfrm>
          <a:prstGeom prst="line">
            <a:avLst/>
          </a:prstGeom>
          <a:noFill/>
          <a:ln w="22225">
            <a:solidFill>
              <a:srgbClr val="6B4FA0"/>
            </a:solidFill>
            <a:prstDash val="solid"/>
            <a:tailEnd type="triangle"/>
          </a:ln>
        </p:spPr>
      </p:sp>
      <p:sp>
        <p:nvSpPr>
          <p:cNvPr id="25" name="box_232"/>
          <p:cNvSpPr/>
          <p:nvPr/>
        </p:nvSpPr>
        <p:spPr>
          <a:xfrm>
            <a:off x="5212080" y="393192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LOOK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raw image</a:t>
            </a:r>
            <a:endParaRPr lang="en-US" sz="1300" dirty="0"/>
          </a:p>
        </p:txBody>
      </p:sp>
      <p:sp>
        <p:nvSpPr>
          <p:cNvPr id="26" name="arrow_233"/>
          <p:cNvSpPr/>
          <p:nvPr/>
        </p:nvSpPr>
        <p:spPr>
          <a:xfrm>
            <a:off x="6675120" y="4434840"/>
            <a:ext cx="182880" cy="0"/>
          </a:xfrm>
          <a:prstGeom prst="line">
            <a:avLst/>
          </a:prstGeom>
          <a:noFill/>
          <a:ln w="22225">
            <a:solidFill>
              <a:srgbClr val="6B4FA0"/>
            </a:solidFill>
            <a:prstDash val="solid"/>
            <a:tailEnd type="triangle"/>
          </a:ln>
        </p:spPr>
      </p:sp>
      <p:sp>
        <p:nvSpPr>
          <p:cNvPr id="27" name="box_234"/>
          <p:cNvSpPr/>
          <p:nvPr/>
        </p:nvSpPr>
        <p:spPr>
          <a:xfrm>
            <a:off x="6858000" y="393192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GROUND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missed cubes</a:t>
            </a:r>
            <a:endParaRPr lang="en-US" sz="1300" dirty="0"/>
          </a:p>
        </p:txBody>
      </p:sp>
      <p:sp>
        <p:nvSpPr>
          <p:cNvPr id="28" name="arrow_235"/>
          <p:cNvSpPr/>
          <p:nvPr/>
        </p:nvSpPr>
        <p:spPr>
          <a:xfrm>
            <a:off x="8321040" y="4434840"/>
            <a:ext cx="182880" cy="0"/>
          </a:xfrm>
          <a:prstGeom prst="line">
            <a:avLst/>
          </a:prstGeom>
          <a:noFill/>
          <a:ln w="22225">
            <a:solidFill>
              <a:srgbClr val="6B4FA0"/>
            </a:solidFill>
            <a:prstDash val="solid"/>
            <a:tailEnd type="triangle"/>
          </a:ln>
        </p:spPr>
      </p:sp>
      <p:sp>
        <p:nvSpPr>
          <p:cNvPr id="29" name="box_236"/>
          <p:cNvSpPr/>
          <p:nvPr/>
        </p:nvSpPr>
        <p:spPr>
          <a:xfrm>
            <a:off x="8503920" y="393192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PLAN + verify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code fallback</a:t>
            </a:r>
            <a:endParaRPr lang="en-US" sz="1300" dirty="0"/>
          </a:p>
        </p:txBody>
      </p:sp>
      <p:sp>
        <p:nvSpPr>
          <p:cNvPr id="30" name="arrow_237"/>
          <p:cNvSpPr/>
          <p:nvPr/>
        </p:nvSpPr>
        <p:spPr>
          <a:xfrm>
            <a:off x="9966960" y="4434840"/>
            <a:ext cx="182880" cy="0"/>
          </a:xfrm>
          <a:prstGeom prst="line">
            <a:avLst/>
          </a:prstGeom>
          <a:noFill/>
          <a:ln w="22225">
            <a:solidFill>
              <a:srgbClr val="6B4FA0"/>
            </a:solidFill>
            <a:prstDash val="solid"/>
            <a:tailEnd type="triangle"/>
          </a:ln>
        </p:spPr>
      </p:sp>
      <p:sp>
        <p:nvSpPr>
          <p:cNvPr id="31" name="box_238"/>
          <p:cNvSpPr/>
          <p:nvPr/>
        </p:nvSpPr>
        <p:spPr>
          <a:xfrm>
            <a:off x="10149840" y="393192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Image 4 + JSON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GUI updated</a:t>
            </a:r>
            <a:endParaRPr lang="en-US" sz="1300" dirty="0"/>
          </a:p>
        </p:txBody>
      </p:sp>
      <p:sp>
        <p:nvSpPr>
          <p:cNvPr id="32" name="label_239"/>
          <p:cNvSpPr txBox="1"/>
          <p:nvPr/>
        </p:nvSpPr>
        <p:spPr>
          <a:xfrm>
            <a:off x="457200" y="5532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Keys</a:t>
            </a:r>
            <a:endParaRPr lang="en-US" sz="1300" dirty="0"/>
          </a:p>
        </p:txBody>
      </p:sp>
      <p:sp>
        <p:nvSpPr>
          <p:cNvPr id="33" name="key_240"/>
          <p:cNvSpPr/>
          <p:nvPr/>
        </p:nvSpPr>
        <p:spPr>
          <a:xfrm>
            <a:off x="457200" y="5852160"/>
            <a:ext cx="292608" cy="246888"/>
          </a:xfrm>
          <a:prstGeom prst="roundRect">
            <a:avLst>
              <a:gd name="adj" fmla="val 14815"/>
            </a:avLst>
          </a:prstGeom>
          <a:solidFill>
            <a:srgbClr val="EEF1F5"/>
          </a:solidFill>
          <a:ln>
            <a:solidFill>
              <a:srgbClr val="9AA6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q</a:t>
            </a:r>
            <a:endParaRPr lang="en-US" sz="1100" dirty="0"/>
          </a:p>
        </p:txBody>
      </p:sp>
      <p:sp>
        <p:nvSpPr>
          <p:cNvPr id="34" name="label_241"/>
          <p:cNvSpPr txBox="1"/>
          <p:nvPr/>
        </p:nvSpPr>
        <p:spPr>
          <a:xfrm>
            <a:off x="841248" y="58521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quit (pending checks finish first)</a:t>
            </a:r>
            <a:endParaRPr lang="en-US" sz="1100" dirty="0"/>
          </a:p>
        </p:txBody>
      </p:sp>
      <p:sp>
        <p:nvSpPr>
          <p:cNvPr id="35" name="key_242"/>
          <p:cNvSpPr/>
          <p:nvPr/>
        </p:nvSpPr>
        <p:spPr>
          <a:xfrm>
            <a:off x="3291840" y="5852160"/>
            <a:ext cx="292608" cy="246888"/>
          </a:xfrm>
          <a:prstGeom prst="roundRect">
            <a:avLst>
              <a:gd name="adj" fmla="val 14815"/>
            </a:avLst>
          </a:prstGeom>
          <a:solidFill>
            <a:srgbClr val="EEF1F5"/>
          </a:solidFill>
          <a:ln>
            <a:solidFill>
              <a:srgbClr val="9AA6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s</a:t>
            </a:r>
            <a:endParaRPr lang="en-US" sz="1100" dirty="0"/>
          </a:p>
        </p:txBody>
      </p:sp>
      <p:sp>
        <p:nvSpPr>
          <p:cNvPr id="36" name="label_243"/>
          <p:cNvSpPr txBox="1"/>
          <p:nvPr/>
        </p:nvSpPr>
        <p:spPr>
          <a:xfrm>
            <a:off x="3675888" y="58521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snapshot</a:t>
            </a:r>
            <a:endParaRPr lang="en-US" sz="1100" dirty="0"/>
          </a:p>
        </p:txBody>
      </p:sp>
      <p:sp>
        <p:nvSpPr>
          <p:cNvPr id="37" name="key_244"/>
          <p:cNvSpPr/>
          <p:nvPr/>
        </p:nvSpPr>
        <p:spPr>
          <a:xfrm>
            <a:off x="6126480" y="5852160"/>
            <a:ext cx="292608" cy="246888"/>
          </a:xfrm>
          <a:prstGeom prst="roundRect">
            <a:avLst>
              <a:gd name="adj" fmla="val 14815"/>
            </a:avLst>
          </a:prstGeom>
          <a:solidFill>
            <a:srgbClr val="EEF1F5"/>
          </a:solidFill>
          <a:ln>
            <a:solidFill>
              <a:srgbClr val="9AA6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p</a:t>
            </a:r>
            <a:endParaRPr lang="en-US" sz="1100" dirty="0"/>
          </a:p>
        </p:txBody>
      </p:sp>
      <p:sp>
        <p:nvSpPr>
          <p:cNvPr id="38" name="label_245"/>
          <p:cNvSpPr txBox="1"/>
          <p:nvPr/>
        </p:nvSpPr>
        <p:spPr>
          <a:xfrm>
            <a:off x="6510528" y="58521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pause</a:t>
            </a:r>
            <a:endParaRPr lang="en-US" sz="1100" dirty="0"/>
          </a:p>
        </p:txBody>
      </p:sp>
      <p:sp>
        <p:nvSpPr>
          <p:cNvPr id="39" name="key_246"/>
          <p:cNvSpPr/>
          <p:nvPr/>
        </p:nvSpPr>
        <p:spPr>
          <a:xfrm>
            <a:off x="8961120" y="5852160"/>
            <a:ext cx="292608" cy="246888"/>
          </a:xfrm>
          <a:prstGeom prst="roundRect">
            <a:avLst>
              <a:gd name="adj" fmla="val 14815"/>
            </a:avLst>
          </a:prstGeom>
          <a:solidFill>
            <a:srgbClr val="EEF1F5"/>
          </a:solidFill>
          <a:ln>
            <a:solidFill>
              <a:srgbClr val="9AA6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i</a:t>
            </a:r>
            <a:endParaRPr lang="en-US" sz="1100" dirty="0"/>
          </a:p>
        </p:txBody>
      </p:sp>
      <p:sp>
        <p:nvSpPr>
          <p:cNvPr id="40" name="label_247"/>
          <p:cNvSpPr txBox="1"/>
          <p:nvPr/>
        </p:nvSpPr>
        <p:spPr>
          <a:xfrm>
            <a:off x="9345168" y="58521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info line</a:t>
            </a:r>
            <a:endParaRPr lang="en-US" sz="1100" dirty="0"/>
          </a:p>
        </p:txBody>
      </p:sp>
      <p:sp>
        <p:nvSpPr>
          <p:cNvPr id="41" name="key_248"/>
          <p:cNvSpPr/>
          <p:nvPr/>
        </p:nvSpPr>
        <p:spPr>
          <a:xfrm>
            <a:off x="457200" y="6153912"/>
            <a:ext cx="292608" cy="246888"/>
          </a:xfrm>
          <a:prstGeom prst="roundRect">
            <a:avLst>
              <a:gd name="adj" fmla="val 14815"/>
            </a:avLst>
          </a:prstGeom>
          <a:solidFill>
            <a:srgbClr val="EEF1F5"/>
          </a:solidFill>
          <a:ln>
            <a:solidFill>
              <a:srgbClr val="9AA6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d</a:t>
            </a:r>
            <a:endParaRPr lang="en-US" sz="1100" dirty="0"/>
          </a:p>
        </p:txBody>
      </p:sp>
      <p:sp>
        <p:nvSpPr>
          <p:cNvPr id="42" name="label_249"/>
          <p:cNvSpPr txBox="1"/>
          <p:nvPr/>
        </p:nvSpPr>
        <p:spPr>
          <a:xfrm>
            <a:off x="841248" y="615391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debug detections</a:t>
            </a:r>
            <a:endParaRPr lang="en-US" sz="1100" dirty="0"/>
          </a:p>
        </p:txBody>
      </p:sp>
      <p:sp>
        <p:nvSpPr>
          <p:cNvPr id="43" name="key_250"/>
          <p:cNvSpPr/>
          <p:nvPr/>
        </p:nvSpPr>
        <p:spPr>
          <a:xfrm>
            <a:off x="3291840" y="6153912"/>
            <a:ext cx="292608" cy="246888"/>
          </a:xfrm>
          <a:prstGeom prst="roundRect">
            <a:avLst>
              <a:gd name="adj" fmla="val 14815"/>
            </a:avLst>
          </a:prstGeom>
          <a:solidFill>
            <a:srgbClr val="EEF1F5"/>
          </a:solidFill>
          <a:ln>
            <a:solidFill>
              <a:srgbClr val="9AA6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a</a:t>
            </a:r>
            <a:endParaRPr lang="en-US" sz="1100" dirty="0"/>
          </a:p>
        </p:txBody>
      </p:sp>
      <p:sp>
        <p:nvSpPr>
          <p:cNvPr id="44" name="label_251"/>
          <p:cNvSpPr txBox="1"/>
          <p:nvPr/>
        </p:nvSpPr>
        <p:spPr>
          <a:xfrm>
            <a:off x="3675888" y="615391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work area</a:t>
            </a:r>
            <a:endParaRPr lang="en-US" sz="1100" dirty="0"/>
          </a:p>
        </p:txBody>
      </p:sp>
      <p:sp>
        <p:nvSpPr>
          <p:cNvPr id="45" name="key_252"/>
          <p:cNvSpPr/>
          <p:nvPr/>
        </p:nvSpPr>
        <p:spPr>
          <a:xfrm>
            <a:off x="6126480" y="6153912"/>
            <a:ext cx="292608" cy="246888"/>
          </a:xfrm>
          <a:prstGeom prst="roundRect">
            <a:avLst>
              <a:gd name="adj" fmla="val 14815"/>
            </a:avLst>
          </a:prstGeom>
          <a:solidFill>
            <a:srgbClr val="EEF1F5"/>
          </a:solidFill>
          <a:ln>
            <a:solidFill>
              <a:srgbClr val="9AA6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r</a:t>
            </a:r>
            <a:endParaRPr lang="en-US" sz="1100" dirty="0"/>
          </a:p>
        </p:txBody>
      </p:sp>
      <p:sp>
        <p:nvSpPr>
          <p:cNvPr id="46" name="label_253"/>
          <p:cNvSpPr txBox="1"/>
          <p:nvPr/>
        </p:nvSpPr>
        <p:spPr>
          <a:xfrm>
            <a:off x="6510528" y="615391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re-check</a:t>
            </a:r>
            <a:endParaRPr lang="en-US" sz="1100" dirty="0"/>
          </a:p>
        </p:txBody>
      </p:sp>
      <p:sp>
        <p:nvSpPr>
          <p:cNvPr id="47" name="key_254"/>
          <p:cNvSpPr/>
          <p:nvPr/>
        </p:nvSpPr>
        <p:spPr>
          <a:xfrm>
            <a:off x="8961120" y="6153912"/>
            <a:ext cx="292608" cy="246888"/>
          </a:xfrm>
          <a:prstGeom prst="roundRect">
            <a:avLst>
              <a:gd name="adj" fmla="val 14815"/>
            </a:avLst>
          </a:prstGeom>
          <a:solidFill>
            <a:srgbClr val="EEF1F5"/>
          </a:solidFill>
          <a:ln>
            <a:solidFill>
              <a:srgbClr val="9AA6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v</a:t>
            </a:r>
            <a:endParaRPr lang="en-US" sz="1100" dirty="0"/>
          </a:p>
        </p:txBody>
      </p:sp>
      <p:sp>
        <p:nvSpPr>
          <p:cNvPr id="48" name="label_255"/>
          <p:cNvSpPr txBox="1"/>
          <p:nvPr/>
        </p:nvSpPr>
        <p:spPr>
          <a:xfrm>
            <a:off x="9345168" y="615391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force VLM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configuration parameters</a:t>
            </a:r>
            <a:endParaRPr lang="en-US" sz="3200" dirty="0"/>
          </a:p>
        </p:txBody>
      </p:sp>
      <p:graphicFrame>
        <p:nvGraphicFramePr>
          <p:cNvPr id="12" name="params_2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03120"/>
                <a:gridCol w="53309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Default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VLM_MODEL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qwen3-vl:8b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Vision model in Ollama (tag case ignored)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VLM_ON_ANOMALY_ONLY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False = call the VLM on every settle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VLM_ANNOTATE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VLM sees the raw image (True: YOLO boxes drawn)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VLM_GROUND / NO_COLOUR_CHECK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 / ('white',)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Ask for missed-cube boxes; colours not checked by pixels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VLM_LOOK_RETRIES / VLM_PLAN_RETRIES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/ 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Re-asks with the reason before falling back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VLM_TRUST_CONF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YOLO cubes the VLM must not drop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YOLO confidence threshold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SETTLE_SECONDS / CONFIRM_FRAMES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 / 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Stillness before YOLO; readings that must agree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MOTION_AREA_FRAC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Changed share of the work area that counts as motion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SIDE_FACE_ASPECT / MERGE_X_GAP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 / 0.2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Side-face width ratio; gap for same-cube merge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PROBE_CELL_MIN_FRAC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Hidden-cube probe: colour share per grid cell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MANUAL_WB_K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OAK white balance lock (K)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be Assistant">
  <a:themeElements>
    <a:clrScheme name="Cube Assistant">
      <a:dk1>
        <a:srgbClr val="1B2430"/>
      </a:dk1>
      <a:lt1>
        <a:srgbClr val="FFFFFF"/>
      </a:lt1>
      <a:dk2>
        <a:srgbClr val="2E3A48"/>
      </a:dk2>
      <a:lt2>
        <a:srgbClr val="EEF1F5"/>
      </a:lt2>
      <a:accent1>
        <a:srgbClr val="24708F"/>
      </a:accent1>
      <a:accent2>
        <a:srgbClr val="D9962B"/>
      </a:accent2>
      <a:accent3>
        <a:srgbClr val="3E8E5E"/>
      </a:accent3>
      <a:accent4>
        <a:srgbClr val="C0453F"/>
      </a:accent4>
      <a:accent5>
        <a:srgbClr val="6B4FA0"/>
      </a:accent5>
      <a:accent6>
        <a:srgbClr val="6E7B8C"/>
      </a:accent6>
      <a:hlink>
        <a:srgbClr val="24708F"/>
      </a:hlink>
      <a:folHlink>
        <a:srgbClr val="6B4FA0"/>
      </a:folHlink>
    </a:clrScheme>
    <a:fontScheme name="Cube Assista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Cube stacking assistant - system architecture</dc:title>
  <dc:subject>PptxGenJS Presentation</dc:subject>
  <dc:creator>Dr. Ahmed Nouman</dc:creator>
  <cp:lastModifiedBy>Dr. Ahmed Nouman</cp:lastModifiedBy>
  <cp:revision>1</cp:revision>
  <dcterms:created xsi:type="dcterms:W3CDTF">2026-10-13T07:51:42Z</dcterms:created>
  <dcterms:modified xsi:type="dcterms:W3CDTF">2026-10-13T07:51:42Z</dcterms:modified>
</cp:coreProperties>
</file>